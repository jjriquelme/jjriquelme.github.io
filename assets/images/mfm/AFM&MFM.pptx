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343" r:id="rId3"/>
    <p:sldId id="257" r:id="rId4"/>
    <p:sldId id="34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  <a:srgbClr val="E90999"/>
    <a:srgbClr val="47FF47"/>
    <a:srgbClr val="99FF99"/>
    <a:srgbClr val="CC00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9" autoAdjust="0"/>
    <p:restoredTop sz="94660"/>
  </p:normalViewPr>
  <p:slideViewPr>
    <p:cSldViewPr snapToGrid="0">
      <p:cViewPr varScale="1">
        <p:scale>
          <a:sx n="93" d="100"/>
          <a:sy n="93" d="100"/>
        </p:scale>
        <p:origin x="9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0F7AC-F43E-4431-B295-58C82EB578E6}" type="datetimeFigureOut">
              <a:rPr lang="en-GB" smtClean="0"/>
              <a:t>27/02/2021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CF60F-092F-4DF7-91F1-2D2D59390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4272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 in the previous case y</a:t>
            </a:r>
            <a:r>
              <a:rPr lang="en-GB" noProof="0" dirty="0" err="1"/>
              <a:t>ou</a:t>
            </a:r>
            <a:r>
              <a:rPr lang="en-GB" noProof="0" dirty="0"/>
              <a:t> can see that as field magnitude changes, the fractal pattern is more and more complex.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If you focus on this branch, how the branch increases as the field decreases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The same pattern seems to appear from 0 to 600Oe, applying an increasing field in the same direction.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In order to gain some insight regarding this behaviour we carried out an analysis of images trying to characterise them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Here I have collected some of the images and represent them just normalised for a these applied field values from 0 Oersted to -600 </a:t>
            </a:r>
            <a:r>
              <a:rPr lang="en-GB" dirty="0" err="1"/>
              <a:t>Oe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6E60-1CBE-4E1A-9307-9CB61692131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7466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7B5DC-79DD-494D-9DB9-9D8524AB9C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A65382-51C8-4B90-86E1-7EE615C4D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0196B-A29E-4FF3-B5AD-BD5E161DA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F83F-C521-4E65-81E4-0A0AEC3BA5D3}" type="datetimeFigureOut">
              <a:rPr lang="en-GB" smtClean="0"/>
              <a:t>27/02/2021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51C93-36D9-4700-A2E2-2D0792051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650D3-C124-4023-98F8-33D2C494A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4DAA-FF32-465E-89BA-C397EB6226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408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780B8-F428-433D-8F30-D41EC13E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D5327-A8C2-4E77-899E-F709959EA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8B344-48A9-4AB1-A68F-AEAE8B084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F83F-C521-4E65-81E4-0A0AEC3BA5D3}" type="datetimeFigureOut">
              <a:rPr lang="en-GB" smtClean="0"/>
              <a:t>27/02/2021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CD75D-E0AA-40A0-BE6F-86DEC7119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E929E-1790-486B-9AB8-EDE34346E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4DAA-FF32-465E-89BA-C397EB6226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5343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73534-0BC6-423E-97F3-9CE29C0D0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F6E11-8B00-455C-A540-6BFEB10A9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F9217-E85A-4F08-9696-AFCEE4A86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F83F-C521-4E65-81E4-0A0AEC3BA5D3}" type="datetimeFigureOut">
              <a:rPr lang="en-GB" smtClean="0"/>
              <a:t>27/02/2021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766BD-B739-44F6-BD1E-8A8C2F425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72474-E873-4066-8853-2A8AF3BBE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4DAA-FF32-465E-89BA-C397EB6226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474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DFC9C-9BF8-4BDB-A75F-97DFB6F3C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4B116-114F-49EF-9129-E619AFD68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13B7E-63EF-4219-9DA3-65F591ED0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C1E28-4C10-470B-BB23-F10E39437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F83F-C521-4E65-81E4-0A0AEC3BA5D3}" type="datetimeFigureOut">
              <a:rPr lang="en-GB" smtClean="0"/>
              <a:t>27/02/2021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A0DBC-75DF-424C-8D3F-BEA7FCD62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D16A90-0226-4D1F-8979-5EBA0906B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4DAA-FF32-465E-89BA-C397EB6226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424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442EB-5CFA-419C-8F09-542B6633D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15AEA-F28C-47F6-95CF-FB97D9F94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89D1E-F79D-4ED6-B79B-F0AA7F5EF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7AC2FE-E94A-45E8-8450-A6824F5706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0E77BA-7B65-4EA1-BDB0-8F3D0F9673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301E85-58B2-400D-88B5-998CAE54C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F83F-C521-4E65-81E4-0A0AEC3BA5D3}" type="datetimeFigureOut">
              <a:rPr lang="en-GB" smtClean="0"/>
              <a:t>27/02/2021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B52563-9EB3-415A-9E28-4D0A4FBB2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06F684-AB23-41DE-B4BA-441E4E6F0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4DAA-FF32-465E-89BA-C397EB6226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100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62641-EC2F-47BA-9353-90C76A6B9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A875DB-6F01-4497-B877-58F932086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F83F-C521-4E65-81E4-0A0AEC3BA5D3}" type="datetimeFigureOut">
              <a:rPr lang="en-GB" smtClean="0"/>
              <a:t>27/02/2021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DD28F2-BC7B-4C5D-B33C-FBC0B7142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076A4A-0A6A-456F-B751-2C3C392FF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4DAA-FF32-465E-89BA-C397EB6226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7478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AF0DB7-C46D-409B-9DE3-055B63172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F83F-C521-4E65-81E4-0A0AEC3BA5D3}" type="datetimeFigureOut">
              <a:rPr lang="en-GB" smtClean="0"/>
              <a:t>27/02/2021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A1CDC7-4BB0-4DFF-8E73-7A1BD2FDC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6CBDA-769D-46FC-8A35-D46423A6A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4DAA-FF32-465E-89BA-C397EB6226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5992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30246-C5E0-4C60-9581-43ADE2E73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09629-A87E-469D-8695-5AE393374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C67932-6CBF-4411-AEA5-874FE5C5B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A8B10D-4673-4DA9-8A9B-EF333122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F83F-C521-4E65-81E4-0A0AEC3BA5D3}" type="datetimeFigureOut">
              <a:rPr lang="en-GB" smtClean="0"/>
              <a:t>27/02/2021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D586A-B572-400B-A20B-113A3479C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926BA-C076-425C-95B5-024CDF246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4DAA-FF32-465E-89BA-C397EB6226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830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FDC31-8742-4E2C-BF54-CAE3EEEB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8BBC9E-15C3-4D3A-AA6B-E85A0A55CC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EE8D4-C109-4116-9658-E7208D459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69323-F7E7-431D-85A5-69861FA68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F83F-C521-4E65-81E4-0A0AEC3BA5D3}" type="datetimeFigureOut">
              <a:rPr lang="en-GB" smtClean="0"/>
              <a:t>27/02/2021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28D2C7-1472-4F44-860F-6F979E251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3C458-9C1C-478F-B8AE-9F9294FAE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4DAA-FF32-465E-89BA-C397EB6226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191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72FFE-D140-474E-BEC0-FBBCE82BE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B20B96-5E52-46A0-BC4A-531795075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E4F0E-3C2B-41AE-A682-8AE589706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F83F-C521-4E65-81E4-0A0AEC3BA5D3}" type="datetimeFigureOut">
              <a:rPr lang="en-GB" smtClean="0"/>
              <a:t>27/02/2021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E6611-9E34-4C7D-BA3E-4502EE301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3E1A4-8FC1-4007-AC4A-A2C7625F9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4DAA-FF32-465E-89BA-C397EB6226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3286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0E9F59-0F6B-47FE-8BBD-32D9CCAEC7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1EE764-71C0-4979-9164-F2CB4C2F1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82088-6A27-447B-AE3C-B4924314F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F83F-C521-4E65-81E4-0A0AEC3BA5D3}" type="datetimeFigureOut">
              <a:rPr lang="en-GB" smtClean="0"/>
              <a:t>27/02/2021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68BC9-9DFA-4B4E-81F1-D78B7D645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33A7C-4882-4EBA-8A14-515F5FB67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4DAA-FF32-465E-89BA-C397EB6226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646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AC68E5-7B63-4316-A147-C97EE8868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F0A34-6C28-41E9-BD62-7F349065C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4131C-7CF7-466E-A077-EBB8E4119F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BF83F-C521-4E65-81E4-0A0AEC3BA5D3}" type="datetimeFigureOut">
              <a:rPr lang="en-GB" smtClean="0"/>
              <a:t>27/02/2021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D13CC-F33C-4537-B623-1D223B544D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AD8B5-18A2-4357-AE53-D08D0DDB6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24DAA-FF32-465E-89BA-C397EB6226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2752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image" Target="../media/image13.emf"/><Relationship Id="rId18" Type="http://schemas.openxmlformats.org/officeDocument/2006/relationships/image" Target="../media/image18.emf"/><Relationship Id="rId3" Type="http://schemas.openxmlformats.org/officeDocument/2006/relationships/image" Target="../media/image3.emf"/><Relationship Id="rId21" Type="http://schemas.openxmlformats.org/officeDocument/2006/relationships/image" Target="../media/image21.emf"/><Relationship Id="rId7" Type="http://schemas.openxmlformats.org/officeDocument/2006/relationships/image" Target="../media/image7.png"/><Relationship Id="rId12" Type="http://schemas.openxmlformats.org/officeDocument/2006/relationships/image" Target="../media/image12.emf"/><Relationship Id="rId17" Type="http://schemas.openxmlformats.org/officeDocument/2006/relationships/image" Target="../media/image17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emf"/><Relationship Id="rId20" Type="http://schemas.openxmlformats.org/officeDocument/2006/relationships/image" Target="../media/image20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emf"/><Relationship Id="rId11" Type="http://schemas.openxmlformats.org/officeDocument/2006/relationships/image" Target="../media/image11.emf"/><Relationship Id="rId5" Type="http://schemas.openxmlformats.org/officeDocument/2006/relationships/image" Target="../media/image5.emf"/><Relationship Id="rId15" Type="http://schemas.openxmlformats.org/officeDocument/2006/relationships/image" Target="../media/image15.emf"/><Relationship Id="rId10" Type="http://schemas.openxmlformats.org/officeDocument/2006/relationships/image" Target="../media/image10.emf"/><Relationship Id="rId19" Type="http://schemas.openxmlformats.org/officeDocument/2006/relationships/image" Target="../media/image19.emf"/><Relationship Id="rId4" Type="http://schemas.openxmlformats.org/officeDocument/2006/relationships/image" Target="../media/image4.emf"/><Relationship Id="rId9" Type="http://schemas.openxmlformats.org/officeDocument/2006/relationships/image" Target="../media/image9.emf"/><Relationship Id="rId14" Type="http://schemas.openxmlformats.org/officeDocument/2006/relationships/image" Target="../media/image1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32000">
              <a:schemeClr val="tx1"/>
            </a:gs>
            <a:gs pos="74000">
              <a:srgbClr val="FFC000"/>
            </a:gs>
            <a:gs pos="100000">
              <a:schemeClr val="bg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EBA1DDC-91E1-4D79-8C65-DEE263A0C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898" y="2"/>
            <a:ext cx="2266950" cy="64674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F5A26B1-BD14-4D6D-AD3D-C89F281153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07" r="2811" b="952"/>
          <a:stretch/>
        </p:blipFill>
        <p:spPr>
          <a:xfrm>
            <a:off x="3768794" y="281487"/>
            <a:ext cx="7873464" cy="679268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D1A2F5A-1845-4BFB-86F2-73B235177A41}"/>
              </a:ext>
            </a:extLst>
          </p:cNvPr>
          <p:cNvSpPr txBox="1"/>
          <p:nvPr/>
        </p:nvSpPr>
        <p:spPr>
          <a:xfrm rot="16200000">
            <a:off x="-1538302" y="2633576"/>
            <a:ext cx="45640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n>
                  <a:solidFill>
                    <a:schemeClr val="bg1"/>
                  </a:solidFill>
                </a:ln>
                <a:solidFill>
                  <a:schemeClr val="accent4"/>
                </a:solidFill>
              </a:rPr>
              <a:t>AFM&amp;MFM</a:t>
            </a:r>
          </a:p>
        </p:txBody>
      </p:sp>
    </p:spTree>
    <p:extLst>
      <p:ext uri="{BB962C8B-B14F-4D97-AF65-F5344CB8AC3E}">
        <p14:creationId xmlns:p14="http://schemas.microsoft.com/office/powerpoint/2010/main" val="2970539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46">
            <a:extLst>
              <a:ext uri="{FF2B5EF4-FFF2-40B4-BE49-F238E27FC236}">
                <a16:creationId xmlns:a16="http://schemas.microsoft.com/office/drawing/2014/main" id="{142489C5-1ABC-4233-89D2-B3C933326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2216" y="954088"/>
            <a:ext cx="191092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9" name="Rectangle 48">
            <a:extLst>
              <a:ext uri="{FF2B5EF4-FFF2-40B4-BE49-F238E27FC236}">
                <a16:creationId xmlns:a16="http://schemas.microsoft.com/office/drawing/2014/main" id="{0C667227-043C-4035-AEC2-A91A7633A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16920" y="5259388"/>
            <a:ext cx="3526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endParaRPr kumimoji="0" lang="en-US" altLang="en-US" sz="1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pSp>
        <p:nvGrpSpPr>
          <p:cNvPr id="164" name="Group 163"/>
          <p:cNvGrpSpPr/>
          <p:nvPr/>
        </p:nvGrpSpPr>
        <p:grpSpPr>
          <a:xfrm>
            <a:off x="14389374" y="2484241"/>
            <a:ext cx="1152000" cy="1488037"/>
            <a:chOff x="294253" y="3069299"/>
            <a:chExt cx="1152000" cy="1488037"/>
          </a:xfrm>
        </p:grpSpPr>
        <p:sp>
          <p:nvSpPr>
            <p:cNvPr id="15" name="78 CuadroTexto"/>
            <p:cNvSpPr txBox="1"/>
            <p:nvPr/>
          </p:nvSpPr>
          <p:spPr>
            <a:xfrm>
              <a:off x="294255" y="3069299"/>
              <a:ext cx="1085554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67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-0.45kOe</a:t>
              </a: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B9623C1-EEA1-45D3-9DAB-63A1111C5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4253" y="3405336"/>
              <a:ext cx="1152000" cy="1152000"/>
            </a:xfrm>
            <a:prstGeom prst="rect">
              <a:avLst/>
            </a:prstGeom>
          </p:spPr>
        </p:pic>
        <p:sp>
          <p:nvSpPr>
            <p:cNvPr id="87" name="Rectangle 47">
              <a:extLst>
                <a:ext uri="{FF2B5EF4-FFF2-40B4-BE49-F238E27FC236}">
                  <a16:creationId xmlns:a16="http://schemas.microsoft.com/office/drawing/2014/main" id="{DF1D13C0-90CE-4A4B-823F-B4340EF83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061" y="3405336"/>
              <a:ext cx="89768" cy="215444"/>
            </a:xfrm>
            <a:prstGeom prst="rect">
              <a:avLst/>
            </a:prstGeom>
            <a:solidFill>
              <a:srgbClr val="FFFFFF">
                <a:alpha val="74902"/>
              </a:srgbClr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9</a:t>
              </a:r>
              <a:endPara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grpSp>
        <p:nvGrpSpPr>
          <p:cNvPr id="153" name="Group 152"/>
          <p:cNvGrpSpPr/>
          <p:nvPr/>
        </p:nvGrpSpPr>
        <p:grpSpPr>
          <a:xfrm>
            <a:off x="14374469" y="3952470"/>
            <a:ext cx="1152000" cy="1559063"/>
            <a:chOff x="7941565" y="3015579"/>
            <a:chExt cx="1152000" cy="1559063"/>
          </a:xfrm>
        </p:grpSpPr>
        <p:sp>
          <p:nvSpPr>
            <p:cNvPr id="30" name="109 CuadroTexto"/>
            <p:cNvSpPr txBox="1"/>
            <p:nvPr/>
          </p:nvSpPr>
          <p:spPr>
            <a:xfrm>
              <a:off x="7955259" y="3015579"/>
              <a:ext cx="1011815" cy="379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67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0.45kOe</a:t>
              </a:r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986AE6CD-00AB-4D07-AF25-9C8AF32F8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41565" y="3422642"/>
              <a:ext cx="1152000" cy="1152000"/>
            </a:xfrm>
            <a:prstGeom prst="rect">
              <a:avLst/>
            </a:prstGeom>
          </p:spPr>
        </p:pic>
        <p:sp>
          <p:nvSpPr>
            <p:cNvPr id="102" name="Rectangle 47">
              <a:extLst>
                <a:ext uri="{FF2B5EF4-FFF2-40B4-BE49-F238E27FC236}">
                  <a16:creationId xmlns:a16="http://schemas.microsoft.com/office/drawing/2014/main" id="{2E76B65F-A19F-4D92-89A3-BBCA2F610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6010" y="3419163"/>
              <a:ext cx="181436" cy="215444"/>
            </a:xfrm>
            <a:prstGeom prst="rect">
              <a:avLst/>
            </a:prstGeom>
            <a:solidFill>
              <a:srgbClr val="FFFFFF">
                <a:alpha val="74902"/>
              </a:srgbClr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23</a:t>
              </a:r>
              <a:endPara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grpSp>
        <p:nvGrpSpPr>
          <p:cNvPr id="122" name="Group 121"/>
          <p:cNvGrpSpPr/>
          <p:nvPr/>
        </p:nvGrpSpPr>
        <p:grpSpPr>
          <a:xfrm>
            <a:off x="14252686" y="429052"/>
            <a:ext cx="2444488" cy="1794041"/>
            <a:chOff x="4847311" y="2954703"/>
            <a:chExt cx="2444488" cy="1794041"/>
          </a:xfrm>
        </p:grpSpPr>
        <p:cxnSp>
          <p:nvCxnSpPr>
            <p:cNvPr id="20" name="45 Conector recto de flecha"/>
            <p:cNvCxnSpPr>
              <a:cxnSpLocks/>
              <a:stCxn id="112" idx="2"/>
            </p:cNvCxnSpPr>
            <p:nvPr/>
          </p:nvCxnSpPr>
          <p:spPr>
            <a:xfrm flipH="1">
              <a:off x="4847311" y="3823007"/>
              <a:ext cx="1125182" cy="54900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47 Conector recto de flecha"/>
            <p:cNvCxnSpPr>
              <a:cxnSpLocks/>
              <a:stCxn id="111" idx="2"/>
            </p:cNvCxnSpPr>
            <p:nvPr/>
          </p:nvCxnSpPr>
          <p:spPr>
            <a:xfrm>
              <a:off x="6098291" y="3823007"/>
              <a:ext cx="1193508" cy="550919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3C1BA557-31A8-450E-B308-59C39E8D37D4}"/>
                </a:ext>
              </a:extLst>
            </p:cNvPr>
            <p:cNvGrpSpPr/>
            <p:nvPr/>
          </p:nvGrpSpPr>
          <p:grpSpPr>
            <a:xfrm>
              <a:off x="5437113" y="2954703"/>
              <a:ext cx="1492525" cy="1794041"/>
              <a:chOff x="4863317" y="4757412"/>
              <a:chExt cx="1492525" cy="1794041"/>
            </a:xfrm>
          </p:grpSpPr>
          <p:cxnSp>
            <p:nvCxnSpPr>
              <p:cNvPr id="109" name="24 Conector recto de flecha">
                <a:extLst>
                  <a:ext uri="{FF2B5EF4-FFF2-40B4-BE49-F238E27FC236}">
                    <a16:creationId xmlns:a16="http://schemas.microsoft.com/office/drawing/2014/main" id="{4A6A64F6-55C1-48AB-B740-61B29903F95A}"/>
                  </a:ext>
                </a:extLst>
              </p:cNvPr>
              <p:cNvCxnSpPr/>
              <p:nvPr/>
            </p:nvCxnSpPr>
            <p:spPr>
              <a:xfrm rot="16200000">
                <a:off x="4630766" y="5724653"/>
                <a:ext cx="1653601" cy="0"/>
              </a:xfrm>
              <a:prstGeom prst="straightConnector1">
                <a:avLst/>
              </a:prstGeom>
              <a:ln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23 Conector recto de flecha">
                <a:extLst>
                  <a:ext uri="{FF2B5EF4-FFF2-40B4-BE49-F238E27FC236}">
                    <a16:creationId xmlns:a16="http://schemas.microsoft.com/office/drawing/2014/main" id="{8A91086D-F110-4A84-8070-3DFC6782185C}"/>
                  </a:ext>
                </a:extLst>
              </p:cNvPr>
              <p:cNvCxnSpPr/>
              <p:nvPr/>
            </p:nvCxnSpPr>
            <p:spPr>
              <a:xfrm>
                <a:off x="4863317" y="5599379"/>
                <a:ext cx="1148320" cy="0"/>
              </a:xfrm>
              <a:prstGeom prst="straightConnector1">
                <a:avLst/>
              </a:prstGeom>
              <a:ln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17 Forma libre">
                <a:extLst>
                  <a:ext uri="{FF2B5EF4-FFF2-40B4-BE49-F238E27FC236}">
                    <a16:creationId xmlns:a16="http://schemas.microsoft.com/office/drawing/2014/main" id="{34CFA943-6B63-4981-92C0-A60ADB302CBF}"/>
                  </a:ext>
                </a:extLst>
              </p:cNvPr>
              <p:cNvSpPr/>
              <p:nvPr/>
            </p:nvSpPr>
            <p:spPr>
              <a:xfrm>
                <a:off x="5092106" y="5024167"/>
                <a:ext cx="861561" cy="1208894"/>
              </a:xfrm>
              <a:custGeom>
                <a:avLst/>
                <a:gdLst>
                  <a:gd name="connsiteX0" fmla="*/ 0 w 2450592"/>
                  <a:gd name="connsiteY0" fmla="*/ 2862072 h 2862072"/>
                  <a:gd name="connsiteX1" fmla="*/ 1014984 w 2450592"/>
                  <a:gd name="connsiteY1" fmla="*/ 2432304 h 2862072"/>
                  <a:gd name="connsiteX2" fmla="*/ 1225296 w 2450592"/>
                  <a:gd name="connsiteY2" fmla="*/ 1417320 h 2862072"/>
                  <a:gd name="connsiteX3" fmla="*/ 1444752 w 2450592"/>
                  <a:gd name="connsiteY3" fmla="*/ 420624 h 2862072"/>
                  <a:gd name="connsiteX4" fmla="*/ 2450592 w 2450592"/>
                  <a:gd name="connsiteY4" fmla="*/ 0 h 2862072"/>
                  <a:gd name="connsiteX0" fmla="*/ 0 w 2450592"/>
                  <a:gd name="connsiteY0" fmla="*/ 2862072 h 2862072"/>
                  <a:gd name="connsiteX1" fmla="*/ 1014984 w 2450592"/>
                  <a:gd name="connsiteY1" fmla="*/ 2432304 h 2862072"/>
                  <a:gd name="connsiteX2" fmla="*/ 1229872 w 2450592"/>
                  <a:gd name="connsiteY2" fmla="*/ 1424174 h 2862072"/>
                  <a:gd name="connsiteX3" fmla="*/ 1444752 w 2450592"/>
                  <a:gd name="connsiteY3" fmla="*/ 420624 h 2862072"/>
                  <a:gd name="connsiteX4" fmla="*/ 2450592 w 2450592"/>
                  <a:gd name="connsiteY4" fmla="*/ 0 h 2862072"/>
                  <a:gd name="connsiteX0" fmla="*/ 0 w 2450592"/>
                  <a:gd name="connsiteY0" fmla="*/ 2862072 h 2862072"/>
                  <a:gd name="connsiteX1" fmla="*/ 1014984 w 2450592"/>
                  <a:gd name="connsiteY1" fmla="*/ 2432304 h 2862072"/>
                  <a:gd name="connsiteX2" fmla="*/ 1229872 w 2450592"/>
                  <a:gd name="connsiteY2" fmla="*/ 1424174 h 2862072"/>
                  <a:gd name="connsiteX3" fmla="*/ 1444752 w 2450592"/>
                  <a:gd name="connsiteY3" fmla="*/ 420624 h 2862072"/>
                  <a:gd name="connsiteX4" fmla="*/ 2450592 w 2450592"/>
                  <a:gd name="connsiteY4" fmla="*/ 0 h 2862072"/>
                  <a:gd name="connsiteX0" fmla="*/ 0 w 2450592"/>
                  <a:gd name="connsiteY0" fmla="*/ 2862072 h 2862072"/>
                  <a:gd name="connsiteX1" fmla="*/ 1014984 w 2450592"/>
                  <a:gd name="connsiteY1" fmla="*/ 2432304 h 2862072"/>
                  <a:gd name="connsiteX2" fmla="*/ 1229872 w 2450592"/>
                  <a:gd name="connsiteY2" fmla="*/ 1424174 h 2862072"/>
                  <a:gd name="connsiteX3" fmla="*/ 1444752 w 2450592"/>
                  <a:gd name="connsiteY3" fmla="*/ 420624 h 2862072"/>
                  <a:gd name="connsiteX4" fmla="*/ 2450592 w 2450592"/>
                  <a:gd name="connsiteY4" fmla="*/ 0 h 2862072"/>
                  <a:gd name="connsiteX0" fmla="*/ 0 w 2450592"/>
                  <a:gd name="connsiteY0" fmla="*/ 2862072 h 2862072"/>
                  <a:gd name="connsiteX1" fmla="*/ 1014984 w 2450592"/>
                  <a:gd name="connsiteY1" fmla="*/ 2432304 h 2862072"/>
                  <a:gd name="connsiteX2" fmla="*/ 1229872 w 2450592"/>
                  <a:gd name="connsiteY2" fmla="*/ 1424174 h 2862072"/>
                  <a:gd name="connsiteX3" fmla="*/ 1444752 w 2450592"/>
                  <a:gd name="connsiteY3" fmla="*/ 420624 h 2862072"/>
                  <a:gd name="connsiteX4" fmla="*/ 2450592 w 2450592"/>
                  <a:gd name="connsiteY4" fmla="*/ 0 h 2862072"/>
                  <a:gd name="connsiteX0" fmla="*/ 0 w 2450592"/>
                  <a:gd name="connsiteY0" fmla="*/ 2862072 h 2868763"/>
                  <a:gd name="connsiteX1" fmla="*/ 1014984 w 2450592"/>
                  <a:gd name="connsiteY1" fmla="*/ 2432304 h 2868763"/>
                  <a:gd name="connsiteX2" fmla="*/ 1229872 w 2450592"/>
                  <a:gd name="connsiteY2" fmla="*/ 1424174 h 2868763"/>
                  <a:gd name="connsiteX3" fmla="*/ 1444752 w 2450592"/>
                  <a:gd name="connsiteY3" fmla="*/ 420624 h 2868763"/>
                  <a:gd name="connsiteX4" fmla="*/ 2450592 w 2450592"/>
                  <a:gd name="connsiteY4" fmla="*/ 0 h 2868763"/>
                  <a:gd name="connsiteX0" fmla="*/ 0 w 2450592"/>
                  <a:gd name="connsiteY0" fmla="*/ 2862072 h 2862072"/>
                  <a:gd name="connsiteX1" fmla="*/ 1014984 w 2450592"/>
                  <a:gd name="connsiteY1" fmla="*/ 2432304 h 2862072"/>
                  <a:gd name="connsiteX2" fmla="*/ 1229872 w 2450592"/>
                  <a:gd name="connsiteY2" fmla="*/ 1424174 h 2862072"/>
                  <a:gd name="connsiteX3" fmla="*/ 1444752 w 2450592"/>
                  <a:gd name="connsiteY3" fmla="*/ 420624 h 2862072"/>
                  <a:gd name="connsiteX4" fmla="*/ 2450592 w 2450592"/>
                  <a:gd name="connsiteY4" fmla="*/ 0 h 2862072"/>
                  <a:gd name="connsiteX0" fmla="*/ 0 w 2450592"/>
                  <a:gd name="connsiteY0" fmla="*/ 2862072 h 2862072"/>
                  <a:gd name="connsiteX1" fmla="*/ 1014984 w 2450592"/>
                  <a:gd name="connsiteY1" fmla="*/ 2432304 h 2862072"/>
                  <a:gd name="connsiteX2" fmla="*/ 1229872 w 2450592"/>
                  <a:gd name="connsiteY2" fmla="*/ 1424174 h 2862072"/>
                  <a:gd name="connsiteX3" fmla="*/ 1444752 w 2450592"/>
                  <a:gd name="connsiteY3" fmla="*/ 420624 h 2862072"/>
                  <a:gd name="connsiteX4" fmla="*/ 2450592 w 2450592"/>
                  <a:gd name="connsiteY4" fmla="*/ 0 h 2862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50592" h="2862072">
                    <a:moveTo>
                      <a:pt x="0" y="2862072"/>
                    </a:moveTo>
                    <a:cubicBezTo>
                      <a:pt x="679266" y="2850309"/>
                      <a:pt x="810005" y="2671954"/>
                      <a:pt x="1014984" y="2432304"/>
                    </a:cubicBezTo>
                    <a:cubicBezTo>
                      <a:pt x="1219963" y="2192654"/>
                      <a:pt x="1211972" y="1783458"/>
                      <a:pt x="1229872" y="1424174"/>
                    </a:cubicBezTo>
                    <a:cubicBezTo>
                      <a:pt x="1247772" y="1064890"/>
                      <a:pt x="1241299" y="657986"/>
                      <a:pt x="1444752" y="420624"/>
                    </a:cubicBezTo>
                    <a:cubicBezTo>
                      <a:pt x="1648205" y="183262"/>
                      <a:pt x="1739406" y="15035"/>
                      <a:pt x="2450592" y="0"/>
                    </a:cubicBezTo>
                  </a:path>
                </a:pathLst>
              </a:custGeom>
              <a:ln w="5715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12" name="36 Forma libre">
                <a:extLst>
                  <a:ext uri="{FF2B5EF4-FFF2-40B4-BE49-F238E27FC236}">
                    <a16:creationId xmlns:a16="http://schemas.microsoft.com/office/drawing/2014/main" id="{77EC808B-C06A-4CDA-B3F7-B90AC00AE038}"/>
                  </a:ext>
                </a:extLst>
              </p:cNvPr>
              <p:cNvSpPr/>
              <p:nvPr/>
            </p:nvSpPr>
            <p:spPr>
              <a:xfrm>
                <a:off x="4958897" y="5024167"/>
                <a:ext cx="876327" cy="1208894"/>
              </a:xfrm>
              <a:custGeom>
                <a:avLst/>
                <a:gdLst>
                  <a:gd name="connsiteX0" fmla="*/ 0 w 2450592"/>
                  <a:gd name="connsiteY0" fmla="*/ 2862072 h 2862072"/>
                  <a:gd name="connsiteX1" fmla="*/ 1014984 w 2450592"/>
                  <a:gd name="connsiteY1" fmla="*/ 2432304 h 2862072"/>
                  <a:gd name="connsiteX2" fmla="*/ 1225296 w 2450592"/>
                  <a:gd name="connsiteY2" fmla="*/ 1417320 h 2862072"/>
                  <a:gd name="connsiteX3" fmla="*/ 1444752 w 2450592"/>
                  <a:gd name="connsiteY3" fmla="*/ 420624 h 2862072"/>
                  <a:gd name="connsiteX4" fmla="*/ 2450592 w 2450592"/>
                  <a:gd name="connsiteY4" fmla="*/ 0 h 2862072"/>
                  <a:gd name="connsiteX0" fmla="*/ 0 w 2450592"/>
                  <a:gd name="connsiteY0" fmla="*/ 2862072 h 2862072"/>
                  <a:gd name="connsiteX1" fmla="*/ 1014984 w 2450592"/>
                  <a:gd name="connsiteY1" fmla="*/ 2432304 h 2862072"/>
                  <a:gd name="connsiteX2" fmla="*/ 1229872 w 2450592"/>
                  <a:gd name="connsiteY2" fmla="*/ 1424174 h 2862072"/>
                  <a:gd name="connsiteX3" fmla="*/ 1444752 w 2450592"/>
                  <a:gd name="connsiteY3" fmla="*/ 420624 h 2862072"/>
                  <a:gd name="connsiteX4" fmla="*/ 2450592 w 2450592"/>
                  <a:gd name="connsiteY4" fmla="*/ 0 h 2862072"/>
                  <a:gd name="connsiteX0" fmla="*/ 0 w 2450592"/>
                  <a:gd name="connsiteY0" fmla="*/ 2862072 h 2862072"/>
                  <a:gd name="connsiteX1" fmla="*/ 1014984 w 2450592"/>
                  <a:gd name="connsiteY1" fmla="*/ 2432304 h 2862072"/>
                  <a:gd name="connsiteX2" fmla="*/ 1229872 w 2450592"/>
                  <a:gd name="connsiteY2" fmla="*/ 1424174 h 2862072"/>
                  <a:gd name="connsiteX3" fmla="*/ 1444752 w 2450592"/>
                  <a:gd name="connsiteY3" fmla="*/ 420624 h 2862072"/>
                  <a:gd name="connsiteX4" fmla="*/ 2450592 w 2450592"/>
                  <a:gd name="connsiteY4" fmla="*/ 0 h 2862072"/>
                  <a:gd name="connsiteX0" fmla="*/ 0 w 2450592"/>
                  <a:gd name="connsiteY0" fmla="*/ 2862072 h 2862072"/>
                  <a:gd name="connsiteX1" fmla="*/ 1014984 w 2450592"/>
                  <a:gd name="connsiteY1" fmla="*/ 2432304 h 2862072"/>
                  <a:gd name="connsiteX2" fmla="*/ 1229872 w 2450592"/>
                  <a:gd name="connsiteY2" fmla="*/ 1424174 h 2862072"/>
                  <a:gd name="connsiteX3" fmla="*/ 1444752 w 2450592"/>
                  <a:gd name="connsiteY3" fmla="*/ 420624 h 2862072"/>
                  <a:gd name="connsiteX4" fmla="*/ 2450592 w 2450592"/>
                  <a:gd name="connsiteY4" fmla="*/ 0 h 2862072"/>
                  <a:gd name="connsiteX0" fmla="*/ 0 w 2450592"/>
                  <a:gd name="connsiteY0" fmla="*/ 2862072 h 2862072"/>
                  <a:gd name="connsiteX1" fmla="*/ 1014984 w 2450592"/>
                  <a:gd name="connsiteY1" fmla="*/ 2432304 h 2862072"/>
                  <a:gd name="connsiteX2" fmla="*/ 1229872 w 2450592"/>
                  <a:gd name="connsiteY2" fmla="*/ 1424174 h 2862072"/>
                  <a:gd name="connsiteX3" fmla="*/ 1444752 w 2450592"/>
                  <a:gd name="connsiteY3" fmla="*/ 420624 h 2862072"/>
                  <a:gd name="connsiteX4" fmla="*/ 2450592 w 2450592"/>
                  <a:gd name="connsiteY4" fmla="*/ 0 h 2862072"/>
                  <a:gd name="connsiteX0" fmla="*/ 0 w 2450592"/>
                  <a:gd name="connsiteY0" fmla="*/ 2862072 h 2868763"/>
                  <a:gd name="connsiteX1" fmla="*/ 1014984 w 2450592"/>
                  <a:gd name="connsiteY1" fmla="*/ 2432304 h 2868763"/>
                  <a:gd name="connsiteX2" fmla="*/ 1229872 w 2450592"/>
                  <a:gd name="connsiteY2" fmla="*/ 1424174 h 2868763"/>
                  <a:gd name="connsiteX3" fmla="*/ 1444752 w 2450592"/>
                  <a:gd name="connsiteY3" fmla="*/ 420624 h 2868763"/>
                  <a:gd name="connsiteX4" fmla="*/ 2450592 w 2450592"/>
                  <a:gd name="connsiteY4" fmla="*/ 0 h 2868763"/>
                  <a:gd name="connsiteX0" fmla="*/ 0 w 2450592"/>
                  <a:gd name="connsiteY0" fmla="*/ 2862072 h 2862072"/>
                  <a:gd name="connsiteX1" fmla="*/ 1014984 w 2450592"/>
                  <a:gd name="connsiteY1" fmla="*/ 2432304 h 2862072"/>
                  <a:gd name="connsiteX2" fmla="*/ 1229872 w 2450592"/>
                  <a:gd name="connsiteY2" fmla="*/ 1424174 h 2862072"/>
                  <a:gd name="connsiteX3" fmla="*/ 1444752 w 2450592"/>
                  <a:gd name="connsiteY3" fmla="*/ 420624 h 2862072"/>
                  <a:gd name="connsiteX4" fmla="*/ 2450592 w 2450592"/>
                  <a:gd name="connsiteY4" fmla="*/ 0 h 2862072"/>
                  <a:gd name="connsiteX0" fmla="*/ 0 w 2450592"/>
                  <a:gd name="connsiteY0" fmla="*/ 2862072 h 2862072"/>
                  <a:gd name="connsiteX1" fmla="*/ 1014984 w 2450592"/>
                  <a:gd name="connsiteY1" fmla="*/ 2432304 h 2862072"/>
                  <a:gd name="connsiteX2" fmla="*/ 1229872 w 2450592"/>
                  <a:gd name="connsiteY2" fmla="*/ 1424174 h 2862072"/>
                  <a:gd name="connsiteX3" fmla="*/ 1444752 w 2450592"/>
                  <a:gd name="connsiteY3" fmla="*/ 420624 h 2862072"/>
                  <a:gd name="connsiteX4" fmla="*/ 2450592 w 2450592"/>
                  <a:gd name="connsiteY4" fmla="*/ 0 h 2862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50592" h="2862072">
                    <a:moveTo>
                      <a:pt x="0" y="2862072"/>
                    </a:moveTo>
                    <a:cubicBezTo>
                      <a:pt x="679266" y="2850309"/>
                      <a:pt x="810005" y="2671954"/>
                      <a:pt x="1014984" y="2432304"/>
                    </a:cubicBezTo>
                    <a:cubicBezTo>
                      <a:pt x="1219963" y="2192654"/>
                      <a:pt x="1211972" y="1783458"/>
                      <a:pt x="1229872" y="1424174"/>
                    </a:cubicBezTo>
                    <a:cubicBezTo>
                      <a:pt x="1247772" y="1064890"/>
                      <a:pt x="1241299" y="657986"/>
                      <a:pt x="1444752" y="420624"/>
                    </a:cubicBezTo>
                    <a:cubicBezTo>
                      <a:pt x="1648205" y="183262"/>
                      <a:pt x="1739406" y="15035"/>
                      <a:pt x="2450592" y="0"/>
                    </a:cubicBezTo>
                  </a:path>
                </a:pathLst>
              </a:cu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13" name="Freeform: Shape 144">
                <a:extLst>
                  <a:ext uri="{FF2B5EF4-FFF2-40B4-BE49-F238E27FC236}">
                    <a16:creationId xmlns:a16="http://schemas.microsoft.com/office/drawing/2014/main" id="{056DB2BA-DEC4-4279-9AF1-F6B80AE037CD}"/>
                  </a:ext>
                </a:extLst>
              </p:cNvPr>
              <p:cNvSpPr/>
              <p:nvPr/>
            </p:nvSpPr>
            <p:spPr>
              <a:xfrm>
                <a:off x="5463540" y="5015865"/>
                <a:ext cx="481965" cy="573405"/>
              </a:xfrm>
              <a:custGeom>
                <a:avLst/>
                <a:gdLst>
                  <a:gd name="connsiteX0" fmla="*/ 0 w 481965"/>
                  <a:gd name="connsiteY0" fmla="*/ 573405 h 573405"/>
                  <a:gd name="connsiteX1" fmla="*/ 45720 w 481965"/>
                  <a:gd name="connsiteY1" fmla="*/ 182880 h 573405"/>
                  <a:gd name="connsiteX2" fmla="*/ 213360 w 481965"/>
                  <a:gd name="connsiteY2" fmla="*/ 40005 h 573405"/>
                  <a:gd name="connsiteX3" fmla="*/ 481965 w 481965"/>
                  <a:gd name="connsiteY3" fmla="*/ 0 h 573405"/>
                  <a:gd name="connsiteX4" fmla="*/ 481965 w 481965"/>
                  <a:gd name="connsiteY4" fmla="*/ 0 h 573405"/>
                  <a:gd name="connsiteX5" fmla="*/ 481965 w 481965"/>
                  <a:gd name="connsiteY5" fmla="*/ 0 h 573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81965" h="573405">
                    <a:moveTo>
                      <a:pt x="0" y="573405"/>
                    </a:moveTo>
                    <a:cubicBezTo>
                      <a:pt x="5080" y="422592"/>
                      <a:pt x="10160" y="271780"/>
                      <a:pt x="45720" y="182880"/>
                    </a:cubicBezTo>
                    <a:cubicBezTo>
                      <a:pt x="81280" y="93980"/>
                      <a:pt x="140653" y="70485"/>
                      <a:pt x="213360" y="40005"/>
                    </a:cubicBezTo>
                    <a:cubicBezTo>
                      <a:pt x="286067" y="9525"/>
                      <a:pt x="481965" y="0"/>
                      <a:pt x="481965" y="0"/>
                    </a:cubicBezTo>
                    <a:lnTo>
                      <a:pt x="481965" y="0"/>
                    </a:lnTo>
                    <a:lnTo>
                      <a:pt x="481965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6EC44A58-7EE3-425B-A2DE-0EC5950B5065}"/>
                  </a:ext>
                </a:extLst>
              </p:cNvPr>
              <p:cNvSpPr/>
              <p:nvPr/>
            </p:nvSpPr>
            <p:spPr>
              <a:xfrm>
                <a:off x="5965992" y="5414713"/>
                <a:ext cx="3898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dirty="0"/>
                  <a:t>H</a:t>
                </a:r>
                <a:r>
                  <a:rPr lang="en-GB" baseline="-25000" dirty="0"/>
                  <a:t>z</a:t>
                </a:r>
                <a:endParaRPr lang="en-GB" dirty="0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46BC8698-67E1-4C82-AE1E-DE2696E9AE79}"/>
                  </a:ext>
                </a:extLst>
              </p:cNvPr>
              <p:cNvSpPr/>
              <p:nvPr/>
            </p:nvSpPr>
            <p:spPr>
              <a:xfrm>
                <a:off x="4898665" y="4757412"/>
                <a:ext cx="587020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dirty="0"/>
                  <a:t>µ</a:t>
                </a:r>
                <a:r>
                  <a:rPr lang="en-GB" baseline="-25000" dirty="0"/>
                  <a:t>0</a:t>
                </a:r>
                <a:r>
                  <a:rPr lang="en-GB" dirty="0"/>
                  <a:t>M</a:t>
                </a:r>
              </a:p>
              <a:p>
                <a:endParaRPr lang="en-GB" dirty="0"/>
              </a:p>
            </p:txBody>
          </p:sp>
        </p:grpSp>
        <p:sp>
          <p:nvSpPr>
            <p:cNvPr id="123" name="Isosceles Triangle 122">
              <a:extLst>
                <a:ext uri="{FF2B5EF4-FFF2-40B4-BE49-F238E27FC236}">
                  <a16:creationId xmlns:a16="http://schemas.microsoft.com/office/drawing/2014/main" id="{53803CC6-D1F1-4DC9-A0EE-9DE99AA920FC}"/>
                </a:ext>
              </a:extLst>
            </p:cNvPr>
            <p:cNvSpPr/>
            <p:nvPr/>
          </p:nvSpPr>
          <p:spPr>
            <a:xfrm rot="11054641">
              <a:off x="5890076" y="3892084"/>
              <a:ext cx="147348" cy="270063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4" name="Isosceles Triangle 123">
              <a:extLst>
                <a:ext uri="{FF2B5EF4-FFF2-40B4-BE49-F238E27FC236}">
                  <a16:creationId xmlns:a16="http://schemas.microsoft.com/office/drawing/2014/main" id="{8BC34CDB-63D4-48EB-ACD8-DC6A33B3F7CC}"/>
                </a:ext>
              </a:extLst>
            </p:cNvPr>
            <p:cNvSpPr/>
            <p:nvPr/>
          </p:nvSpPr>
          <p:spPr>
            <a:xfrm rot="573513">
              <a:off x="6048287" y="3452747"/>
              <a:ext cx="147348" cy="264742"/>
            </a:xfrm>
            <a:prstGeom prst="triangl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7" name="Group 176"/>
          <p:cNvGrpSpPr/>
          <p:nvPr/>
        </p:nvGrpSpPr>
        <p:grpSpPr>
          <a:xfrm>
            <a:off x="15763754" y="2034475"/>
            <a:ext cx="1152000" cy="1537495"/>
            <a:chOff x="3160337" y="3027917"/>
            <a:chExt cx="1152000" cy="1537495"/>
          </a:xfrm>
        </p:grpSpPr>
        <p:sp>
          <p:nvSpPr>
            <p:cNvPr id="178" name="57 CuadroTexto"/>
            <p:cNvSpPr txBox="1"/>
            <p:nvPr/>
          </p:nvSpPr>
          <p:spPr>
            <a:xfrm>
              <a:off x="3163677" y="3027917"/>
              <a:ext cx="1085554" cy="379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67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-0.55kOe</a:t>
              </a:r>
            </a:p>
          </p:txBody>
        </p:sp>
        <p:pic>
          <p:nvPicPr>
            <p:cNvPr id="179" name="Picture 178">
              <a:extLst>
                <a:ext uri="{FF2B5EF4-FFF2-40B4-BE49-F238E27FC236}">
                  <a16:creationId xmlns:a16="http://schemas.microsoft.com/office/drawing/2014/main" id="{7F6EDD21-456F-44B8-96AA-9BA3143F96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60337" y="3413412"/>
              <a:ext cx="1152000" cy="1152000"/>
            </a:xfrm>
            <a:prstGeom prst="rect">
              <a:avLst/>
            </a:prstGeom>
          </p:spPr>
        </p:pic>
        <p:sp>
          <p:nvSpPr>
            <p:cNvPr id="180" name="Rectangle 47">
              <a:extLst>
                <a:ext uri="{FF2B5EF4-FFF2-40B4-BE49-F238E27FC236}">
                  <a16:creationId xmlns:a16="http://schemas.microsoft.com/office/drawing/2014/main" id="{20C020B0-523A-4DBD-8A49-7068EDAE8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4746" y="3388360"/>
              <a:ext cx="172868" cy="215444"/>
            </a:xfrm>
            <a:prstGeom prst="rect">
              <a:avLst/>
            </a:prstGeom>
            <a:solidFill>
              <a:srgbClr val="FFFFFF">
                <a:alpha val="74902"/>
              </a:srgbClr>
            </a:solidFill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11</a:t>
              </a:r>
              <a:endPara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grpSp>
        <p:nvGrpSpPr>
          <p:cNvPr id="181" name="Group 180"/>
          <p:cNvGrpSpPr/>
          <p:nvPr/>
        </p:nvGrpSpPr>
        <p:grpSpPr>
          <a:xfrm>
            <a:off x="15929761" y="3739633"/>
            <a:ext cx="1152000" cy="1572636"/>
            <a:chOff x="10838669" y="3004656"/>
            <a:chExt cx="1152000" cy="1572636"/>
          </a:xfrm>
        </p:grpSpPr>
        <p:sp>
          <p:nvSpPr>
            <p:cNvPr id="182" name="102 CuadroTexto"/>
            <p:cNvSpPr txBox="1"/>
            <p:nvPr/>
          </p:nvSpPr>
          <p:spPr>
            <a:xfrm>
              <a:off x="10841862" y="3004656"/>
              <a:ext cx="1011815" cy="379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67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0.55kOe</a:t>
              </a:r>
            </a:p>
          </p:txBody>
        </p:sp>
        <p:pic>
          <p:nvPicPr>
            <p:cNvPr id="183" name="Picture 182">
              <a:extLst>
                <a:ext uri="{FF2B5EF4-FFF2-40B4-BE49-F238E27FC236}">
                  <a16:creationId xmlns:a16="http://schemas.microsoft.com/office/drawing/2014/main" id="{1E0C9B8C-0EEF-42FA-93C2-EF51459B2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838669" y="3425292"/>
              <a:ext cx="1152000" cy="1152000"/>
            </a:xfrm>
            <a:prstGeom prst="rect">
              <a:avLst/>
            </a:prstGeom>
          </p:spPr>
        </p:pic>
        <p:sp>
          <p:nvSpPr>
            <p:cNvPr id="184" name="Rectangle 47">
              <a:extLst>
                <a:ext uri="{FF2B5EF4-FFF2-40B4-BE49-F238E27FC236}">
                  <a16:creationId xmlns:a16="http://schemas.microsoft.com/office/drawing/2014/main" id="{04D30523-D1A6-458B-99D0-D49ACDA62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4347" y="3435100"/>
              <a:ext cx="179536" cy="215444"/>
            </a:xfrm>
            <a:prstGeom prst="rect">
              <a:avLst/>
            </a:prstGeom>
            <a:solidFill>
              <a:srgbClr val="FFFFFF">
                <a:alpha val="74902"/>
              </a:srgbClr>
            </a:solidFill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25</a:t>
              </a:r>
              <a:endPara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185" name="Title 184"/>
          <p:cNvSpPr>
            <a:spLocks noGrp="1"/>
          </p:cNvSpPr>
          <p:nvPr>
            <p:ph type="title"/>
          </p:nvPr>
        </p:nvSpPr>
        <p:spPr>
          <a:xfrm>
            <a:off x="660461" y="792903"/>
            <a:ext cx="2607809" cy="1325563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CrGeTe</a:t>
            </a:r>
            <a:r>
              <a:rPr lang="en-US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  <a:endParaRPr lang="en-GB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DC94E74-FC49-4877-938D-334DA238747F}"/>
              </a:ext>
            </a:extLst>
          </p:cNvPr>
          <p:cNvGrpSpPr/>
          <p:nvPr/>
        </p:nvGrpSpPr>
        <p:grpSpPr>
          <a:xfrm>
            <a:off x="617867" y="1268208"/>
            <a:ext cx="11433746" cy="4241535"/>
            <a:chOff x="617867" y="1268208"/>
            <a:chExt cx="11433746" cy="4241535"/>
          </a:xfrm>
        </p:grpSpPr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2E5A3C01-9C34-4451-9846-08C6B810DDF6}"/>
                </a:ext>
              </a:extLst>
            </p:cNvPr>
            <p:cNvGrpSpPr/>
            <p:nvPr/>
          </p:nvGrpSpPr>
          <p:grpSpPr>
            <a:xfrm>
              <a:off x="8785854" y="1268208"/>
              <a:ext cx="3046065" cy="369332"/>
              <a:chOff x="8818669" y="5078963"/>
              <a:chExt cx="3046065" cy="369332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966EA7EB-9C11-4B1B-A63D-61BAE3AAFF92}"/>
                  </a:ext>
                </a:extLst>
              </p:cNvPr>
              <p:cNvSpPr txBox="1"/>
              <p:nvPr/>
            </p:nvSpPr>
            <p:spPr>
              <a:xfrm>
                <a:off x="8818669" y="5078963"/>
                <a:ext cx="1208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cs typeface="Arial" panose="020B0604020202020204" pitchFamily="34" charset="0"/>
                  </a:rPr>
                  <a:t>phase shift</a:t>
                </a:r>
              </a:p>
            </p:txBody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836C073F-004E-46A3-BB9D-3B3E82203591}"/>
                  </a:ext>
                </a:extLst>
              </p:cNvPr>
              <p:cNvGrpSpPr/>
              <p:nvPr/>
            </p:nvGrpSpPr>
            <p:grpSpPr>
              <a:xfrm>
                <a:off x="10029197" y="5127004"/>
                <a:ext cx="1835537" cy="317107"/>
                <a:chOff x="10029197" y="5127004"/>
                <a:chExt cx="1835537" cy="317107"/>
              </a:xfrm>
            </p:grpSpPr>
            <p:grpSp>
              <p:nvGrpSpPr>
                <p:cNvPr id="121" name="Group 120">
                  <a:extLst>
                    <a:ext uri="{FF2B5EF4-FFF2-40B4-BE49-F238E27FC236}">
                      <a16:creationId xmlns:a16="http://schemas.microsoft.com/office/drawing/2014/main" id="{368C7948-0347-4534-B32C-3A4D0FEA994C}"/>
                    </a:ext>
                  </a:extLst>
                </p:cNvPr>
                <p:cNvGrpSpPr/>
                <p:nvPr/>
              </p:nvGrpSpPr>
              <p:grpSpPr>
                <a:xfrm>
                  <a:off x="10029197" y="5127004"/>
                  <a:ext cx="1835536" cy="306759"/>
                  <a:chOff x="10029197" y="5127004"/>
                  <a:chExt cx="1651888" cy="306759"/>
                </a:xfrm>
              </p:grpSpPr>
              <p:pic>
                <p:nvPicPr>
                  <p:cNvPr id="129" name="Picture 5">
                    <a:extLst>
                      <a:ext uri="{FF2B5EF4-FFF2-40B4-BE49-F238E27FC236}">
                        <a16:creationId xmlns:a16="http://schemas.microsoft.com/office/drawing/2014/main" id="{537D3F40-A312-45BC-9424-38BFCC55F17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rot="5400000">
                    <a:off x="10701600" y="4454601"/>
                    <a:ext cx="306759" cy="1651565"/>
                  </a:xfrm>
                  <a:prstGeom prst="rect">
                    <a:avLst/>
                  </a:prstGeom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34" name="Rectangle 133">
                    <a:extLst>
                      <a:ext uri="{FF2B5EF4-FFF2-40B4-BE49-F238E27FC236}">
                        <a16:creationId xmlns:a16="http://schemas.microsoft.com/office/drawing/2014/main" id="{EFCFB007-0613-46F2-B1E0-DC25C9AF3A8E}"/>
                      </a:ext>
                    </a:extLst>
                  </p:cNvPr>
                  <p:cNvSpPr/>
                  <p:nvPr/>
                </p:nvSpPr>
                <p:spPr>
                  <a:xfrm>
                    <a:off x="10029520" y="5127004"/>
                    <a:ext cx="1651565" cy="302826"/>
                  </a:xfrm>
                  <a:prstGeom prst="rect">
                    <a:avLst/>
                  </a:prstGeom>
                  <a:noFill/>
                  <a:ln w="31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solidFill>
                        <a:schemeClr val="bg1"/>
                      </a:solidFill>
                    </a:endParaRPr>
                  </a:p>
                </p:txBody>
              </p:sp>
            </p:grpSp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EB509E28-7D75-43CB-B810-5D8F378C5B8F}"/>
                    </a:ext>
                  </a:extLst>
                </p:cNvPr>
                <p:cNvSpPr txBox="1"/>
                <p:nvPr/>
              </p:nvSpPr>
              <p:spPr>
                <a:xfrm>
                  <a:off x="10029197" y="5136334"/>
                  <a:ext cx="1835537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n w="3175">
                        <a:solidFill>
                          <a:schemeClr val="tx1"/>
                        </a:solidFill>
                      </a:ln>
                      <a:solidFill>
                        <a:schemeClr val="bg1"/>
                      </a:solidFill>
                      <a:latin typeface="Franklin Gothic Heavy" panose="020B0903020102020204" pitchFamily="34" charset="0"/>
                      <a:cs typeface="Arial" panose="020B0604020202020204" pitchFamily="34" charset="0"/>
                    </a:rPr>
                    <a:t>FULL RANGE:</a:t>
                  </a:r>
                  <a:r>
                    <a:rPr lang="en-GB" sz="1400" dirty="0">
                      <a:ln w="3175">
                        <a:solidFill>
                          <a:schemeClr val="bg1"/>
                        </a:solidFill>
                      </a:ln>
                      <a:latin typeface="Franklin Gothic Heavy" panose="020B09030201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GB" sz="1400" b="1" dirty="0">
                      <a:ln w="3175">
                        <a:solidFill>
                          <a:schemeClr val="bg1"/>
                        </a:solidFill>
                      </a:ln>
                      <a:latin typeface="Franklin Gothic Heavy" panose="020B0903020102020204" pitchFamily="34" charset="0"/>
                      <a:cs typeface="Arial" panose="020B0604020202020204" pitchFamily="34" charset="0"/>
                    </a:rPr>
                    <a:t>96deg</a:t>
                  </a:r>
                </a:p>
              </p:txBody>
            </p:sp>
          </p:grp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BD5D812F-F69E-4CE9-8218-A48E02131134}"/>
                </a:ext>
              </a:extLst>
            </p:cNvPr>
            <p:cNvGrpSpPr/>
            <p:nvPr/>
          </p:nvGrpSpPr>
          <p:grpSpPr>
            <a:xfrm>
              <a:off x="617867" y="1815393"/>
              <a:ext cx="11433746" cy="3694350"/>
              <a:chOff x="617867" y="1815393"/>
              <a:chExt cx="11433746" cy="3694350"/>
            </a:xfrm>
          </p:grpSpPr>
          <p:grpSp>
            <p:nvGrpSpPr>
              <p:cNvPr id="206" name="Group 205">
                <a:extLst>
                  <a:ext uri="{FF2B5EF4-FFF2-40B4-BE49-F238E27FC236}">
                    <a16:creationId xmlns:a16="http://schemas.microsoft.com/office/drawing/2014/main" id="{823F4D08-1F75-4B46-BC4E-861D6206864C}"/>
                  </a:ext>
                </a:extLst>
              </p:cNvPr>
              <p:cNvGrpSpPr/>
              <p:nvPr/>
            </p:nvGrpSpPr>
            <p:grpSpPr>
              <a:xfrm>
                <a:off x="9431645" y="1815393"/>
                <a:ext cx="1152000" cy="1637500"/>
                <a:chOff x="9408481" y="1396293"/>
                <a:chExt cx="1152000" cy="1637500"/>
              </a:xfrm>
            </p:grpSpPr>
            <p:sp>
              <p:nvSpPr>
                <p:cNvPr id="8" name="57 CuadroTexto"/>
                <p:cNvSpPr txBox="1"/>
                <p:nvPr/>
              </p:nvSpPr>
              <p:spPr>
                <a:xfrm>
                  <a:off x="9444481" y="1396293"/>
                  <a:ext cx="1080000" cy="360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67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-0.55kOe</a:t>
                  </a:r>
                </a:p>
              </p:txBody>
            </p: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91D5BB8A-1324-4741-BF10-E9243450B925}"/>
                    </a:ext>
                  </a:extLst>
                </p:cNvPr>
                <p:cNvGrpSpPr/>
                <p:nvPr/>
              </p:nvGrpSpPr>
              <p:grpSpPr>
                <a:xfrm>
                  <a:off x="9408481" y="1881793"/>
                  <a:ext cx="1152000" cy="1152000"/>
                  <a:chOff x="9399215" y="1881793"/>
                  <a:chExt cx="1152000" cy="1152000"/>
                </a:xfrm>
              </p:grpSpPr>
              <p:pic>
                <p:nvPicPr>
                  <p:cNvPr id="43" name="Picture 42">
                    <a:extLst>
                      <a:ext uri="{FF2B5EF4-FFF2-40B4-BE49-F238E27FC236}">
                        <a16:creationId xmlns:a16="http://schemas.microsoft.com/office/drawing/2014/main" id="{7F6EDD21-456F-44B8-96AA-9BA3143F960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9399215" y="1881793"/>
                    <a:ext cx="1152000" cy="1152000"/>
                  </a:xfrm>
                  <a:prstGeom prst="rect">
                    <a:avLst/>
                  </a:prstGeom>
                </p:spPr>
              </p:pic>
              <p:sp>
                <p:nvSpPr>
                  <p:cNvPr id="88" name="Rectangle 47">
                    <a:extLst>
                      <a:ext uri="{FF2B5EF4-FFF2-40B4-BE49-F238E27FC236}">
                        <a16:creationId xmlns:a16="http://schemas.microsoft.com/office/drawing/2014/main" id="{20C020B0-523A-4DBD-8A49-7068EDAE8C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399215" y="1881793"/>
                    <a:ext cx="187200" cy="187200"/>
                  </a:xfrm>
                  <a:prstGeom prst="rect">
                    <a:avLst/>
                  </a:prstGeom>
                  <a:solidFill>
                    <a:srgbClr val="47FF47"/>
                  </a:solidFill>
                  <a:ln>
                    <a:solidFill>
                      <a:schemeClr val="bg1"/>
                    </a:solidFill>
                  </a:ln>
                </p:spPr>
                <p:txBody>
                  <a:bodyPr vert="horz" wrap="none" lIns="0" tIns="0" rIns="0" bIns="0" numCol="1" anchor="ctr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en-US"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11</a:t>
                    </a:r>
                    <a:endParaRPr kumimoji="0" lang="en-US" altLang="en-US" sz="120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</a:endParaRPr>
                  </a:p>
                </p:txBody>
              </p:sp>
            </p:grpSp>
          </p:grpSp>
          <p:grpSp>
            <p:nvGrpSpPr>
              <p:cNvPr id="207" name="Group 206">
                <a:extLst>
                  <a:ext uri="{FF2B5EF4-FFF2-40B4-BE49-F238E27FC236}">
                    <a16:creationId xmlns:a16="http://schemas.microsoft.com/office/drawing/2014/main" id="{6D1D47A4-C6EF-44C7-AC10-EC7D1B8B4B82}"/>
                  </a:ext>
                </a:extLst>
              </p:cNvPr>
              <p:cNvGrpSpPr/>
              <p:nvPr/>
            </p:nvGrpSpPr>
            <p:grpSpPr>
              <a:xfrm>
                <a:off x="10899613" y="1815393"/>
                <a:ext cx="1152000" cy="1637500"/>
                <a:chOff x="10899613" y="1396293"/>
                <a:chExt cx="1152000" cy="1637500"/>
              </a:xfrm>
            </p:grpSpPr>
            <p:sp>
              <p:nvSpPr>
                <p:cNvPr id="13" name="76 CuadroTexto"/>
                <p:cNvSpPr txBox="1"/>
                <p:nvPr/>
              </p:nvSpPr>
              <p:spPr>
                <a:xfrm>
                  <a:off x="10935613" y="1396293"/>
                  <a:ext cx="1080000" cy="360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67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-0.6kOe</a:t>
                  </a:r>
                </a:p>
              </p:txBody>
            </p:sp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D172426C-D444-40C7-888B-2506F0B9E7D2}"/>
                    </a:ext>
                  </a:extLst>
                </p:cNvPr>
                <p:cNvGrpSpPr/>
                <p:nvPr/>
              </p:nvGrpSpPr>
              <p:grpSpPr>
                <a:xfrm>
                  <a:off x="10899613" y="1881793"/>
                  <a:ext cx="1152000" cy="1152000"/>
                  <a:chOff x="10828977" y="1881793"/>
                  <a:chExt cx="1152000" cy="1152000"/>
                </a:xfrm>
              </p:grpSpPr>
              <p:pic>
                <p:nvPicPr>
                  <p:cNvPr id="44" name="Picture 43">
                    <a:extLst>
                      <a:ext uri="{FF2B5EF4-FFF2-40B4-BE49-F238E27FC236}">
                        <a16:creationId xmlns:a16="http://schemas.microsoft.com/office/drawing/2014/main" id="{CCFE81D1-441D-4F36-8A37-BB70F47397E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0828977" y="1881793"/>
                    <a:ext cx="1152000" cy="1152000"/>
                  </a:xfrm>
                  <a:prstGeom prst="rect">
                    <a:avLst/>
                  </a:prstGeom>
                </p:spPr>
              </p:pic>
              <p:sp>
                <p:nvSpPr>
                  <p:cNvPr id="89" name="Rectangle 47">
                    <a:extLst>
                      <a:ext uri="{FF2B5EF4-FFF2-40B4-BE49-F238E27FC236}">
                        <a16:creationId xmlns:a16="http://schemas.microsoft.com/office/drawing/2014/main" id="{D0233037-24BA-4B75-A565-B7D9086276A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28977" y="1881793"/>
                    <a:ext cx="187200" cy="187200"/>
                  </a:xfrm>
                  <a:prstGeom prst="rect">
                    <a:avLst/>
                  </a:prstGeom>
                  <a:solidFill>
                    <a:srgbClr val="99FF99"/>
                  </a:solidFill>
                  <a:ln>
                    <a:solidFill>
                      <a:schemeClr val="bg1"/>
                    </a:solidFill>
                  </a:ln>
                </p:spPr>
                <p:txBody>
                  <a:bodyPr vert="horz" wrap="none" lIns="0" tIns="0" rIns="0" bIns="0" numCol="1" anchor="ctr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en-US" sz="1200" dirty="0">
                        <a:latin typeface="Times New Roman" panose="02020603050405020304" pitchFamily="18" charset="0"/>
                      </a:rPr>
                      <a:t>12</a:t>
                    </a:r>
                    <a:endParaRPr kumimoji="0" lang="en-US" altLang="en-US" sz="1200" i="0" u="none" strike="noStrike" cap="none" normalizeH="0" baseline="0" dirty="0">
                      <a:ln>
                        <a:noFill/>
                      </a:ln>
                      <a:effectLst/>
                    </a:endParaRPr>
                  </a:p>
                </p:txBody>
              </p:sp>
            </p:grpSp>
          </p:grpSp>
          <p:grpSp>
            <p:nvGrpSpPr>
              <p:cNvPr id="208" name="Group 207">
                <a:extLst>
                  <a:ext uri="{FF2B5EF4-FFF2-40B4-BE49-F238E27FC236}">
                    <a16:creationId xmlns:a16="http://schemas.microsoft.com/office/drawing/2014/main" id="{1D9A6562-3FF9-4E48-BA2F-84F78F098DDB}"/>
                  </a:ext>
                </a:extLst>
              </p:cNvPr>
              <p:cNvGrpSpPr/>
              <p:nvPr/>
            </p:nvGrpSpPr>
            <p:grpSpPr>
              <a:xfrm>
                <a:off x="620853" y="3937107"/>
                <a:ext cx="1152000" cy="1572636"/>
                <a:chOff x="620853" y="3137007"/>
                <a:chExt cx="1152000" cy="1572636"/>
              </a:xfrm>
            </p:grpSpPr>
            <p:sp>
              <p:nvSpPr>
                <p:cNvPr id="94" name="35 CuadroTexto"/>
                <p:cNvSpPr txBox="1"/>
                <p:nvPr/>
              </p:nvSpPr>
              <p:spPr>
                <a:xfrm>
                  <a:off x="656853" y="3137007"/>
                  <a:ext cx="1080000" cy="3600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867" dirty="0">
                      <a:solidFill>
                        <a:sysClr val="windowText" lastClr="000000"/>
                      </a:solidFill>
                    </a:rPr>
                    <a:t>-2.0kOe</a:t>
                  </a:r>
                </a:p>
              </p:txBody>
            </p:sp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DDD65C3D-1FAE-4CCF-A073-0BC9289E2DB7}"/>
                    </a:ext>
                  </a:extLst>
                </p:cNvPr>
                <p:cNvGrpSpPr/>
                <p:nvPr/>
              </p:nvGrpSpPr>
              <p:grpSpPr>
                <a:xfrm>
                  <a:off x="620853" y="3557643"/>
                  <a:ext cx="1152000" cy="1152000"/>
                  <a:chOff x="612146" y="3552743"/>
                  <a:chExt cx="1152000" cy="1152000"/>
                </a:xfrm>
              </p:grpSpPr>
              <p:pic>
                <p:nvPicPr>
                  <p:cNvPr id="95" name="Picture 94">
                    <a:extLst>
                      <a:ext uri="{FF2B5EF4-FFF2-40B4-BE49-F238E27FC236}">
                        <a16:creationId xmlns:a16="http://schemas.microsoft.com/office/drawing/2014/main" id="{5E28E35C-93B6-47E3-84C7-A1E7E3A70B7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612146" y="3552743"/>
                    <a:ext cx="1152000" cy="1152000"/>
                  </a:xfrm>
                  <a:prstGeom prst="rect">
                    <a:avLst/>
                  </a:prstGeom>
                </p:spPr>
              </p:pic>
              <p:sp>
                <p:nvSpPr>
                  <p:cNvPr id="96" name="Rectangle 47">
                    <a:extLst>
                      <a:ext uri="{FF2B5EF4-FFF2-40B4-BE49-F238E27FC236}">
                        <a16:creationId xmlns:a16="http://schemas.microsoft.com/office/drawing/2014/main" id="{7D6C4D19-BA57-46C5-9EDB-304476EE7BC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2146" y="3552743"/>
                    <a:ext cx="187200" cy="187200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solidFill>
                      <a:schemeClr val="bg1"/>
                    </a:solidFill>
                  </a:ln>
                </p:spPr>
                <p:txBody>
                  <a:bodyPr vert="horz" wrap="squar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en-US" sz="120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rPr>
                      <a:t>17</a:t>
                    </a:r>
                    <a:endParaRPr kumimoji="0" lang="en-US" altLang="en-US" sz="120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</a:endParaRPr>
                  </a:p>
                </p:txBody>
              </p:sp>
            </p:grpSp>
          </p:grpSp>
          <p:grpSp>
            <p:nvGrpSpPr>
              <p:cNvPr id="209" name="Group 208">
                <a:extLst>
                  <a:ext uri="{FF2B5EF4-FFF2-40B4-BE49-F238E27FC236}">
                    <a16:creationId xmlns:a16="http://schemas.microsoft.com/office/drawing/2014/main" id="{5C9B47D2-C9C2-4869-8E8F-5CFA01553DB9}"/>
                  </a:ext>
                </a:extLst>
              </p:cNvPr>
              <p:cNvGrpSpPr/>
              <p:nvPr/>
            </p:nvGrpSpPr>
            <p:grpSpPr>
              <a:xfrm>
                <a:off x="2089247" y="3937107"/>
                <a:ext cx="1152000" cy="1572636"/>
                <a:chOff x="2274753" y="3137007"/>
                <a:chExt cx="1152000" cy="1572636"/>
              </a:xfrm>
            </p:grpSpPr>
            <p:sp>
              <p:nvSpPr>
                <p:cNvPr id="34" name="113 CuadroTexto"/>
                <p:cNvSpPr txBox="1"/>
                <p:nvPr/>
              </p:nvSpPr>
              <p:spPr>
                <a:xfrm>
                  <a:off x="2310753" y="3137007"/>
                  <a:ext cx="1080000" cy="360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67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-0.2 </a:t>
                  </a:r>
                  <a:r>
                    <a:rPr lang="en-US" sz="1867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kOe</a:t>
                  </a:r>
                  <a:endParaRPr lang="en-US" sz="1867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grpSp>
              <p:nvGrpSpPr>
                <p:cNvPr id="97" name="Group 96">
                  <a:extLst>
                    <a:ext uri="{FF2B5EF4-FFF2-40B4-BE49-F238E27FC236}">
                      <a16:creationId xmlns:a16="http://schemas.microsoft.com/office/drawing/2014/main" id="{59651231-FB19-479F-AAD5-3DC02318B694}"/>
                    </a:ext>
                  </a:extLst>
                </p:cNvPr>
                <p:cNvGrpSpPr/>
                <p:nvPr/>
              </p:nvGrpSpPr>
              <p:grpSpPr>
                <a:xfrm>
                  <a:off x="2274753" y="3557643"/>
                  <a:ext cx="1152000" cy="1152000"/>
                  <a:chOff x="2277089" y="3557643"/>
                  <a:chExt cx="1152000" cy="1152000"/>
                </a:xfrm>
              </p:grpSpPr>
              <p:pic>
                <p:nvPicPr>
                  <p:cNvPr id="56" name="Picture 55">
                    <a:extLst>
                      <a:ext uri="{FF2B5EF4-FFF2-40B4-BE49-F238E27FC236}">
                        <a16:creationId xmlns:a16="http://schemas.microsoft.com/office/drawing/2014/main" id="{5AB0764E-845E-4F1A-A873-C4E45FC5D82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2277089" y="3557643"/>
                    <a:ext cx="1152000" cy="1152000"/>
                  </a:xfrm>
                  <a:prstGeom prst="rect">
                    <a:avLst/>
                  </a:prstGeom>
                </p:spPr>
              </p:pic>
              <p:sp>
                <p:nvSpPr>
                  <p:cNvPr id="98" name="Rectangle 47">
                    <a:extLst>
                      <a:ext uri="{FF2B5EF4-FFF2-40B4-BE49-F238E27FC236}">
                        <a16:creationId xmlns:a16="http://schemas.microsoft.com/office/drawing/2014/main" id="{30414263-24D8-4090-ACAF-2B17332C01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77089" y="3557643"/>
                    <a:ext cx="187200" cy="187200"/>
                  </a:xfrm>
                  <a:prstGeom prst="rect">
                    <a:avLst/>
                  </a:prstGeom>
                  <a:solidFill>
                    <a:srgbClr val="FFCC66"/>
                  </a:solidFill>
                  <a:ln>
                    <a:solidFill>
                      <a:schemeClr val="bg1"/>
                    </a:solidFill>
                  </a:ln>
                </p:spPr>
                <p:txBody>
                  <a:bodyPr vert="horz" wrap="squar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en-US" sz="120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rPr>
                      <a:t>19</a:t>
                    </a:r>
                    <a:endParaRPr kumimoji="0" lang="en-US" altLang="en-US" sz="120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</a:endParaRPr>
                  </a:p>
                </p:txBody>
              </p:sp>
            </p:grpSp>
          </p:grpSp>
          <p:grpSp>
            <p:nvGrpSpPr>
              <p:cNvPr id="210" name="Group 209">
                <a:extLst>
                  <a:ext uri="{FF2B5EF4-FFF2-40B4-BE49-F238E27FC236}">
                    <a16:creationId xmlns:a16="http://schemas.microsoft.com/office/drawing/2014/main" id="{AE0F293F-6276-4D17-B2DE-1F9A86691A92}"/>
                  </a:ext>
                </a:extLst>
              </p:cNvPr>
              <p:cNvGrpSpPr/>
              <p:nvPr/>
            </p:nvGrpSpPr>
            <p:grpSpPr>
              <a:xfrm>
                <a:off x="3557641" y="3937107"/>
                <a:ext cx="1152000" cy="1572636"/>
                <a:chOff x="3755657" y="3137007"/>
                <a:chExt cx="1152000" cy="1572636"/>
              </a:xfrm>
            </p:grpSpPr>
            <p:sp>
              <p:nvSpPr>
                <p:cNvPr id="25" name="104 CuadroTexto"/>
                <p:cNvSpPr txBox="1"/>
                <p:nvPr/>
              </p:nvSpPr>
              <p:spPr>
                <a:xfrm>
                  <a:off x="3791657" y="3137007"/>
                  <a:ext cx="1080000" cy="360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67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0 </a:t>
                  </a:r>
                  <a:r>
                    <a:rPr lang="en-US" sz="1867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Oe</a:t>
                  </a:r>
                  <a:endParaRPr lang="en-US" sz="1867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23BAA230-F3FE-40E4-92F2-641D248B5DA6}"/>
                    </a:ext>
                  </a:extLst>
                </p:cNvPr>
                <p:cNvGrpSpPr/>
                <p:nvPr/>
              </p:nvGrpSpPr>
              <p:grpSpPr>
                <a:xfrm>
                  <a:off x="3755657" y="3557643"/>
                  <a:ext cx="1152000" cy="1152000"/>
                  <a:chOff x="3685618" y="3557643"/>
                  <a:chExt cx="1152000" cy="1152000"/>
                </a:xfrm>
              </p:grpSpPr>
              <p:pic>
                <p:nvPicPr>
                  <p:cNvPr id="57" name="Picture 56">
                    <a:extLst>
                      <a:ext uri="{FF2B5EF4-FFF2-40B4-BE49-F238E27FC236}">
                        <a16:creationId xmlns:a16="http://schemas.microsoft.com/office/drawing/2014/main" id="{D320FB40-53B1-42FE-AA73-D02FE2ED6CF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3685618" y="3557643"/>
                    <a:ext cx="1152000" cy="1152000"/>
                  </a:xfrm>
                  <a:prstGeom prst="rect">
                    <a:avLst/>
                  </a:prstGeom>
                </p:spPr>
              </p:pic>
              <p:sp>
                <p:nvSpPr>
                  <p:cNvPr id="99" name="Rectangle 47">
                    <a:extLst>
                      <a:ext uri="{FF2B5EF4-FFF2-40B4-BE49-F238E27FC236}">
                        <a16:creationId xmlns:a16="http://schemas.microsoft.com/office/drawing/2014/main" id="{F0DEABD2-9CA8-4057-8143-3F85A58ED4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85618" y="3557643"/>
                    <a:ext cx="187200" cy="187200"/>
                  </a:xfrm>
                  <a:prstGeom prst="rect">
                    <a:avLst/>
                  </a:prstGeom>
                  <a:solidFill>
                    <a:srgbClr val="CC6600"/>
                  </a:solidFill>
                  <a:ln>
                    <a:solidFill>
                      <a:schemeClr val="bg1"/>
                    </a:solidFill>
                  </a:ln>
                </p:spPr>
                <p:txBody>
                  <a:bodyPr vert="horz" wrap="squar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en-US" sz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rPr>
                      <a:t>20</a:t>
                    </a:r>
                    <a:endParaRPr kumimoji="0" lang="en-US" altLang="en-US" sz="120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</a:endParaRPr>
                  </a:p>
                </p:txBody>
              </p:sp>
            </p:grpSp>
          </p:grpSp>
          <p:grpSp>
            <p:nvGrpSpPr>
              <p:cNvPr id="213" name="Group 212">
                <a:extLst>
                  <a:ext uri="{FF2B5EF4-FFF2-40B4-BE49-F238E27FC236}">
                    <a16:creationId xmlns:a16="http://schemas.microsoft.com/office/drawing/2014/main" id="{AFFDE9B8-A50A-4C6B-8FF4-DBB1694499A8}"/>
                  </a:ext>
                </a:extLst>
              </p:cNvPr>
              <p:cNvGrpSpPr/>
              <p:nvPr/>
            </p:nvGrpSpPr>
            <p:grpSpPr>
              <a:xfrm>
                <a:off x="5026035" y="3937107"/>
                <a:ext cx="1152000" cy="1572636"/>
                <a:chOff x="5167294" y="3137007"/>
                <a:chExt cx="1152000" cy="1572636"/>
              </a:xfrm>
            </p:grpSpPr>
            <p:sp>
              <p:nvSpPr>
                <p:cNvPr id="26" name="105 CuadroTexto"/>
                <p:cNvSpPr txBox="1"/>
                <p:nvPr/>
              </p:nvSpPr>
              <p:spPr>
                <a:xfrm>
                  <a:off x="5203294" y="3137007"/>
                  <a:ext cx="1080000" cy="360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67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0.2kOe</a:t>
                  </a:r>
                </a:p>
              </p:txBody>
            </p: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F0F8C9C1-90F3-45DE-A55C-B246F13E7EBE}"/>
                    </a:ext>
                  </a:extLst>
                </p:cNvPr>
                <p:cNvGrpSpPr/>
                <p:nvPr/>
              </p:nvGrpSpPr>
              <p:grpSpPr>
                <a:xfrm>
                  <a:off x="5167294" y="3557643"/>
                  <a:ext cx="1152000" cy="1152000"/>
                  <a:chOff x="5109389" y="3557643"/>
                  <a:chExt cx="1152000" cy="1152000"/>
                </a:xfrm>
              </p:grpSpPr>
              <p:pic>
                <p:nvPicPr>
                  <p:cNvPr id="58" name="Picture 57">
                    <a:extLst>
                      <a:ext uri="{FF2B5EF4-FFF2-40B4-BE49-F238E27FC236}">
                        <a16:creationId xmlns:a16="http://schemas.microsoft.com/office/drawing/2014/main" id="{0491492B-999D-4BB7-ABEA-B5B7168EF0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5109389" y="3557643"/>
                    <a:ext cx="1152000" cy="1152000"/>
                  </a:xfrm>
                  <a:prstGeom prst="rect">
                    <a:avLst/>
                  </a:prstGeom>
                </p:spPr>
              </p:pic>
              <p:sp>
                <p:nvSpPr>
                  <p:cNvPr id="100" name="Rectangle 47">
                    <a:extLst>
                      <a:ext uri="{FF2B5EF4-FFF2-40B4-BE49-F238E27FC236}">
                        <a16:creationId xmlns:a16="http://schemas.microsoft.com/office/drawing/2014/main" id="{406A9CC3-8D46-4F5C-9E77-F7D0E661C01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09389" y="3557643"/>
                    <a:ext cx="187200" cy="187200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solidFill>
                      <a:schemeClr val="bg1"/>
                    </a:solidFill>
                  </a:ln>
                </p:spPr>
                <p:txBody>
                  <a:bodyPr vert="horz" wrap="squar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en-US" sz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rPr>
                      <a:t>21</a:t>
                    </a:r>
                    <a:endParaRPr kumimoji="0" lang="en-US" altLang="en-US" sz="120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</a:endParaRPr>
                  </a:p>
                </p:txBody>
              </p:sp>
            </p:grpSp>
          </p:grpSp>
          <p:grpSp>
            <p:nvGrpSpPr>
              <p:cNvPr id="214" name="Group 213">
                <a:extLst>
                  <a:ext uri="{FF2B5EF4-FFF2-40B4-BE49-F238E27FC236}">
                    <a16:creationId xmlns:a16="http://schemas.microsoft.com/office/drawing/2014/main" id="{9FFBB795-54A9-4844-9290-E0626AB8B876}"/>
                  </a:ext>
                </a:extLst>
              </p:cNvPr>
              <p:cNvGrpSpPr/>
              <p:nvPr/>
            </p:nvGrpSpPr>
            <p:grpSpPr>
              <a:xfrm>
                <a:off x="6494429" y="3937107"/>
                <a:ext cx="1152000" cy="1572636"/>
                <a:chOff x="6596670" y="3137007"/>
                <a:chExt cx="1152000" cy="1572636"/>
              </a:xfrm>
            </p:grpSpPr>
            <p:sp>
              <p:nvSpPr>
                <p:cNvPr id="27" name="106 CuadroTexto"/>
                <p:cNvSpPr txBox="1"/>
                <p:nvPr/>
              </p:nvSpPr>
              <p:spPr>
                <a:xfrm>
                  <a:off x="6632670" y="3137007"/>
                  <a:ext cx="1080000" cy="360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67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0.4kOe</a:t>
                  </a:r>
                </a:p>
              </p:txBody>
            </p: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5856033F-FFF8-440D-87AC-9F556FF559A8}"/>
                    </a:ext>
                  </a:extLst>
                </p:cNvPr>
                <p:cNvGrpSpPr/>
                <p:nvPr/>
              </p:nvGrpSpPr>
              <p:grpSpPr>
                <a:xfrm>
                  <a:off x="6596670" y="3557643"/>
                  <a:ext cx="1152000" cy="1152000"/>
                  <a:chOff x="6530723" y="3557643"/>
                  <a:chExt cx="1152000" cy="1152000"/>
                </a:xfrm>
              </p:grpSpPr>
              <p:pic>
                <p:nvPicPr>
                  <p:cNvPr id="59" name="Picture 58">
                    <a:extLst>
                      <a:ext uri="{FF2B5EF4-FFF2-40B4-BE49-F238E27FC236}">
                        <a16:creationId xmlns:a16="http://schemas.microsoft.com/office/drawing/2014/main" id="{85627238-4390-4BF8-9618-7CE0972907D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6530723" y="3557643"/>
                    <a:ext cx="1152000" cy="1152000"/>
                  </a:xfrm>
                  <a:prstGeom prst="rect">
                    <a:avLst/>
                  </a:prstGeom>
                </p:spPr>
              </p:pic>
              <p:sp>
                <p:nvSpPr>
                  <p:cNvPr id="101" name="Rectangle 47">
                    <a:extLst>
                      <a:ext uri="{FF2B5EF4-FFF2-40B4-BE49-F238E27FC236}">
                        <a16:creationId xmlns:a16="http://schemas.microsoft.com/office/drawing/2014/main" id="{6D59B8F5-C618-479D-8421-B9EC373A84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530723" y="3557643"/>
                    <a:ext cx="187200" cy="187200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bg1"/>
                    </a:solidFill>
                  </a:ln>
                </p:spPr>
                <p:txBody>
                  <a:bodyPr vert="horz" wrap="squar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en-US" sz="120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rPr>
                      <a:t>22</a:t>
                    </a:r>
                    <a:endParaRPr kumimoji="0" lang="en-US" altLang="en-US" sz="140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</a:endParaRPr>
                  </a:p>
                </p:txBody>
              </p:sp>
            </p:grpSp>
          </p:grpSp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79B176DF-5E99-47A4-B566-039B08B20638}"/>
                  </a:ext>
                </a:extLst>
              </p:cNvPr>
              <p:cNvGrpSpPr/>
              <p:nvPr/>
            </p:nvGrpSpPr>
            <p:grpSpPr>
              <a:xfrm>
                <a:off x="7963680" y="1815393"/>
                <a:ext cx="1152000" cy="1785082"/>
                <a:chOff x="8049647" y="1396293"/>
                <a:chExt cx="1152000" cy="1785082"/>
              </a:xfrm>
            </p:grpSpPr>
            <p:sp>
              <p:nvSpPr>
                <p:cNvPr id="9" name="58 CuadroTexto"/>
                <p:cNvSpPr txBox="1"/>
                <p:nvPr/>
              </p:nvSpPr>
              <p:spPr>
                <a:xfrm>
                  <a:off x="8085647" y="1396293"/>
                  <a:ext cx="1080000" cy="360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67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-0.5kOe</a:t>
                  </a:r>
                </a:p>
              </p:txBody>
            </p:sp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4B776913-B723-49D7-A2DD-81A91D3534D8}"/>
                    </a:ext>
                  </a:extLst>
                </p:cNvPr>
                <p:cNvGrpSpPr/>
                <p:nvPr/>
              </p:nvGrpSpPr>
              <p:grpSpPr>
                <a:xfrm>
                  <a:off x="8049647" y="1881793"/>
                  <a:ext cx="1152000" cy="1299582"/>
                  <a:chOff x="7969450" y="1881793"/>
                  <a:chExt cx="1152000" cy="1299582"/>
                </a:xfrm>
              </p:grpSpPr>
              <p:pic>
                <p:nvPicPr>
                  <p:cNvPr id="42" name="Picture 41">
                    <a:extLst>
                      <a:ext uri="{FF2B5EF4-FFF2-40B4-BE49-F238E27FC236}">
                        <a16:creationId xmlns:a16="http://schemas.microsoft.com/office/drawing/2014/main" id="{58D0B025-7BAB-42B9-8338-0A4F7C20AD8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7969450" y="1881793"/>
                    <a:ext cx="1152000" cy="1152000"/>
                  </a:xfrm>
                  <a:prstGeom prst="rect">
                    <a:avLst/>
                  </a:prstGeom>
                </p:spPr>
              </p:pic>
              <p:sp>
                <p:nvSpPr>
                  <p:cNvPr id="85" name="Rectangle 47">
                    <a:extLst>
                      <a:ext uri="{FF2B5EF4-FFF2-40B4-BE49-F238E27FC236}">
                        <a16:creationId xmlns:a16="http://schemas.microsoft.com/office/drawing/2014/main" id="{DF1D13C0-90CE-4A4B-823F-B4340EF83F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69450" y="1881793"/>
                    <a:ext cx="187200" cy="187200"/>
                  </a:xfrm>
                  <a:prstGeom prst="rect">
                    <a:avLst/>
                  </a:prstGeom>
                  <a:solidFill>
                    <a:srgbClr val="92D050"/>
                  </a:solidFill>
                  <a:ln>
                    <a:solidFill>
                      <a:schemeClr val="bg1"/>
                    </a:solidFill>
                  </a:ln>
                </p:spPr>
                <p:txBody>
                  <a:bodyPr vert="horz" wrap="none" lIns="0" tIns="0" rIns="0" bIns="0" numCol="1" anchor="ctr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en-US" sz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rPr>
                      <a:t>10</a:t>
                    </a:r>
                    <a:endParaRPr kumimoji="0" lang="en-US" altLang="en-US" sz="120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</a:endParaRPr>
                  </a:p>
                </p:txBody>
              </p:sp>
              <p:sp>
                <p:nvSpPr>
                  <p:cNvPr id="72" name="Rectangle 30">
                    <a:extLst>
                      <a:ext uri="{FF2B5EF4-FFF2-40B4-BE49-F238E27FC236}">
                        <a16:creationId xmlns:a16="http://schemas.microsoft.com/office/drawing/2014/main" id="{ABC39EAA-9A6D-430F-ABF7-222BF6091AA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732715" y="3096772"/>
                    <a:ext cx="58909" cy="846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rPr>
                      <a:t> </a:t>
                    </a:r>
                    <a:endPara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215" name="Group 214">
                <a:extLst>
                  <a:ext uri="{FF2B5EF4-FFF2-40B4-BE49-F238E27FC236}">
                    <a16:creationId xmlns:a16="http://schemas.microsoft.com/office/drawing/2014/main" id="{F8DD9D46-FC85-46D5-A01F-6E08E2A3A53B}"/>
                  </a:ext>
                </a:extLst>
              </p:cNvPr>
              <p:cNvGrpSpPr/>
              <p:nvPr/>
            </p:nvGrpSpPr>
            <p:grpSpPr>
              <a:xfrm>
                <a:off x="7962823" y="3937107"/>
                <a:ext cx="1152000" cy="1572636"/>
                <a:chOff x="8049647" y="3137007"/>
                <a:chExt cx="1152000" cy="1572636"/>
              </a:xfrm>
            </p:grpSpPr>
            <p:sp>
              <p:nvSpPr>
                <p:cNvPr id="24" name="103 CuadroTexto"/>
                <p:cNvSpPr txBox="1"/>
                <p:nvPr/>
              </p:nvSpPr>
              <p:spPr>
                <a:xfrm>
                  <a:off x="8085647" y="3137007"/>
                  <a:ext cx="1080000" cy="360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67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0.5kOe</a:t>
                  </a:r>
                </a:p>
              </p:txBody>
            </p:sp>
            <p:grpSp>
              <p:nvGrpSpPr>
                <p:cNvPr id="197" name="Group 196">
                  <a:extLst>
                    <a:ext uri="{FF2B5EF4-FFF2-40B4-BE49-F238E27FC236}">
                      <a16:creationId xmlns:a16="http://schemas.microsoft.com/office/drawing/2014/main" id="{96421A3D-F40F-448E-B149-8DCDFB7C2F71}"/>
                    </a:ext>
                  </a:extLst>
                </p:cNvPr>
                <p:cNvGrpSpPr/>
                <p:nvPr/>
              </p:nvGrpSpPr>
              <p:grpSpPr>
                <a:xfrm>
                  <a:off x="8049647" y="3557643"/>
                  <a:ext cx="1152000" cy="1152000"/>
                  <a:chOff x="7982169" y="3557643"/>
                  <a:chExt cx="1152000" cy="1152000"/>
                </a:xfrm>
              </p:grpSpPr>
              <p:pic>
                <p:nvPicPr>
                  <p:cNvPr id="61" name="Picture 60">
                    <a:extLst>
                      <a:ext uri="{FF2B5EF4-FFF2-40B4-BE49-F238E27FC236}">
                        <a16:creationId xmlns:a16="http://schemas.microsoft.com/office/drawing/2014/main" id="{2CCC7B8E-F3CC-4118-9FB6-FA675AF532D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7982169" y="3557643"/>
                    <a:ext cx="1152000" cy="1152000"/>
                  </a:xfrm>
                  <a:prstGeom prst="rect">
                    <a:avLst/>
                  </a:prstGeom>
                </p:spPr>
              </p:pic>
              <p:sp>
                <p:nvSpPr>
                  <p:cNvPr id="103" name="Rectangle 47">
                    <a:extLst>
                      <a:ext uri="{FF2B5EF4-FFF2-40B4-BE49-F238E27FC236}">
                        <a16:creationId xmlns:a16="http://schemas.microsoft.com/office/drawing/2014/main" id="{DE28852E-9C8D-4910-BF6D-447D68FFD5F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82169" y="3557643"/>
                    <a:ext cx="187200" cy="187200"/>
                  </a:xfrm>
                  <a:prstGeom prst="rect">
                    <a:avLst/>
                  </a:prstGeom>
                  <a:solidFill>
                    <a:srgbClr val="FF66CC"/>
                  </a:solidFill>
                  <a:ln>
                    <a:solidFill>
                      <a:schemeClr val="bg1"/>
                    </a:solidFill>
                  </a:ln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en-US" sz="120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24</a:t>
                    </a:r>
                  </a:p>
                </p:txBody>
              </p:sp>
            </p:grpSp>
          </p:grp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8B3CA642-F743-46C9-BCC2-136BC83CD7D4}"/>
                  </a:ext>
                </a:extLst>
              </p:cNvPr>
              <p:cNvGrpSpPr/>
              <p:nvPr/>
            </p:nvGrpSpPr>
            <p:grpSpPr>
              <a:xfrm>
                <a:off x="9431217" y="3937107"/>
                <a:ext cx="1152000" cy="1572636"/>
                <a:chOff x="9408481" y="3137007"/>
                <a:chExt cx="1152000" cy="1572636"/>
              </a:xfrm>
            </p:grpSpPr>
            <p:sp>
              <p:nvSpPr>
                <p:cNvPr id="23" name="102 CuadroTexto"/>
                <p:cNvSpPr txBox="1"/>
                <p:nvPr/>
              </p:nvSpPr>
              <p:spPr>
                <a:xfrm>
                  <a:off x="9444481" y="3137007"/>
                  <a:ext cx="1080000" cy="360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67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0.55kOe</a:t>
                  </a:r>
                </a:p>
              </p:txBody>
            </p:sp>
            <p:grpSp>
              <p:nvGrpSpPr>
                <p:cNvPr id="198" name="Group 197">
                  <a:extLst>
                    <a:ext uri="{FF2B5EF4-FFF2-40B4-BE49-F238E27FC236}">
                      <a16:creationId xmlns:a16="http://schemas.microsoft.com/office/drawing/2014/main" id="{230E7B72-6A45-474C-948B-24D22E751B9C}"/>
                    </a:ext>
                  </a:extLst>
                </p:cNvPr>
                <p:cNvGrpSpPr/>
                <p:nvPr/>
              </p:nvGrpSpPr>
              <p:grpSpPr>
                <a:xfrm>
                  <a:off x="9408481" y="3557643"/>
                  <a:ext cx="1152000" cy="1152000"/>
                  <a:chOff x="9417747" y="3557643"/>
                  <a:chExt cx="1152000" cy="1152000"/>
                </a:xfrm>
              </p:grpSpPr>
              <p:pic>
                <p:nvPicPr>
                  <p:cNvPr id="62" name="Picture 61">
                    <a:extLst>
                      <a:ext uri="{FF2B5EF4-FFF2-40B4-BE49-F238E27FC236}">
                        <a16:creationId xmlns:a16="http://schemas.microsoft.com/office/drawing/2014/main" id="{1E0C9B8C-0EEF-42FA-93C2-EF51459B27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9417747" y="3557643"/>
                    <a:ext cx="1152000" cy="1152000"/>
                  </a:xfrm>
                  <a:prstGeom prst="rect">
                    <a:avLst/>
                  </a:prstGeom>
                </p:spPr>
              </p:pic>
              <p:sp>
                <p:nvSpPr>
                  <p:cNvPr id="104" name="Rectangle 47">
                    <a:extLst>
                      <a:ext uri="{FF2B5EF4-FFF2-40B4-BE49-F238E27FC236}">
                        <a16:creationId xmlns:a16="http://schemas.microsoft.com/office/drawing/2014/main" id="{04D30523-D1A6-458B-99D0-D49ACDA625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417747" y="3557643"/>
                    <a:ext cx="153888" cy="184666"/>
                  </a:xfrm>
                  <a:prstGeom prst="rect">
                    <a:avLst/>
                  </a:prstGeom>
                  <a:solidFill>
                    <a:srgbClr val="E90999"/>
                  </a:solidFill>
                  <a:ln>
                    <a:solidFill>
                      <a:schemeClr val="bg1"/>
                    </a:solidFill>
                  </a:ln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en-US" sz="120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rPr>
                      <a:t>25</a:t>
                    </a:r>
                    <a:endParaRPr kumimoji="0" lang="en-US" altLang="en-US" sz="120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</a:endParaRPr>
                  </a:p>
                </p:txBody>
              </p:sp>
            </p:grpSp>
          </p:grpSp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id="{F93FD633-8245-45E0-AD40-4728B87F9475}"/>
                  </a:ext>
                </a:extLst>
              </p:cNvPr>
              <p:cNvGrpSpPr/>
              <p:nvPr/>
            </p:nvGrpSpPr>
            <p:grpSpPr>
              <a:xfrm>
                <a:off x="10899613" y="3937107"/>
                <a:ext cx="1152000" cy="1572636"/>
                <a:chOff x="10899613" y="3137007"/>
                <a:chExt cx="1152000" cy="1572636"/>
              </a:xfrm>
            </p:grpSpPr>
            <p:sp>
              <p:nvSpPr>
                <p:cNvPr id="28" name="107 CuadroTexto"/>
                <p:cNvSpPr txBox="1"/>
                <p:nvPr/>
              </p:nvSpPr>
              <p:spPr>
                <a:xfrm>
                  <a:off x="10935613" y="3137007"/>
                  <a:ext cx="1080000" cy="360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67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0.6kOe</a:t>
                  </a:r>
                </a:p>
              </p:txBody>
            </p:sp>
            <p:grpSp>
              <p:nvGrpSpPr>
                <p:cNvPr id="199" name="Group 198">
                  <a:extLst>
                    <a:ext uri="{FF2B5EF4-FFF2-40B4-BE49-F238E27FC236}">
                      <a16:creationId xmlns:a16="http://schemas.microsoft.com/office/drawing/2014/main" id="{908E236C-E830-4E0D-A551-481F5678766F}"/>
                    </a:ext>
                  </a:extLst>
                </p:cNvPr>
                <p:cNvGrpSpPr/>
                <p:nvPr/>
              </p:nvGrpSpPr>
              <p:grpSpPr>
                <a:xfrm>
                  <a:off x="10899613" y="3557643"/>
                  <a:ext cx="1152000" cy="1152000"/>
                  <a:chOff x="10817732" y="3557643"/>
                  <a:chExt cx="1152000" cy="1152000"/>
                </a:xfrm>
              </p:grpSpPr>
              <p:pic>
                <p:nvPicPr>
                  <p:cNvPr id="63" name="Picture 62">
                    <a:extLst>
                      <a:ext uri="{FF2B5EF4-FFF2-40B4-BE49-F238E27FC236}">
                        <a16:creationId xmlns:a16="http://schemas.microsoft.com/office/drawing/2014/main" id="{C5457E1E-29B9-44F2-B3B4-62518B1F70F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10817732" y="3557643"/>
                    <a:ext cx="1152000" cy="1152000"/>
                  </a:xfrm>
                  <a:prstGeom prst="rect">
                    <a:avLst/>
                  </a:prstGeom>
                </p:spPr>
              </p:pic>
              <p:sp>
                <p:nvSpPr>
                  <p:cNvPr id="105" name="Rectangle 47">
                    <a:extLst>
                      <a:ext uri="{FF2B5EF4-FFF2-40B4-BE49-F238E27FC236}">
                        <a16:creationId xmlns:a16="http://schemas.microsoft.com/office/drawing/2014/main" id="{043576D8-44CE-4369-A717-C76717A2F26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17732" y="3557643"/>
                    <a:ext cx="187200" cy="187200"/>
                  </a:xfrm>
                  <a:prstGeom prst="rect">
                    <a:avLst/>
                  </a:prstGeom>
                  <a:solidFill>
                    <a:srgbClr val="CC00CC"/>
                  </a:solidFill>
                  <a:ln>
                    <a:solidFill>
                      <a:schemeClr val="bg1"/>
                    </a:solidFill>
                  </a:ln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en-US" sz="120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rPr>
                      <a:t>26</a:t>
                    </a:r>
                    <a:endParaRPr kumimoji="0" lang="en-US" altLang="en-US" sz="120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</a:endParaRPr>
                  </a:p>
                </p:txBody>
              </p:sp>
            </p:grpSp>
          </p:grpSp>
          <p:grpSp>
            <p:nvGrpSpPr>
              <p:cNvPr id="204" name="Group 203">
                <a:extLst>
                  <a:ext uri="{FF2B5EF4-FFF2-40B4-BE49-F238E27FC236}">
                    <a16:creationId xmlns:a16="http://schemas.microsoft.com/office/drawing/2014/main" id="{74C12785-A22D-4291-BB80-1FFBE942D659}"/>
                  </a:ext>
                </a:extLst>
              </p:cNvPr>
              <p:cNvGrpSpPr/>
              <p:nvPr/>
            </p:nvGrpSpPr>
            <p:grpSpPr>
              <a:xfrm>
                <a:off x="6495715" y="1815393"/>
                <a:ext cx="1152000" cy="1637963"/>
                <a:chOff x="6596670" y="1396293"/>
                <a:chExt cx="1152000" cy="1637963"/>
              </a:xfrm>
            </p:grpSpPr>
            <p:sp>
              <p:nvSpPr>
                <p:cNvPr id="12" name="66 CuadroTexto"/>
                <p:cNvSpPr txBox="1"/>
                <p:nvPr/>
              </p:nvSpPr>
              <p:spPr>
                <a:xfrm>
                  <a:off x="6632670" y="1396293"/>
                  <a:ext cx="1080000" cy="360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67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-0.4kOe</a:t>
                  </a:r>
                </a:p>
              </p:txBody>
            </p:sp>
            <p:grpSp>
              <p:nvGrpSpPr>
                <p:cNvPr id="83" name="Group 82">
                  <a:extLst>
                    <a:ext uri="{FF2B5EF4-FFF2-40B4-BE49-F238E27FC236}">
                      <a16:creationId xmlns:a16="http://schemas.microsoft.com/office/drawing/2014/main" id="{F81FFEEA-BB51-473E-BFBD-AFF426636300}"/>
                    </a:ext>
                  </a:extLst>
                </p:cNvPr>
                <p:cNvGrpSpPr/>
                <p:nvPr/>
              </p:nvGrpSpPr>
              <p:grpSpPr>
                <a:xfrm>
                  <a:off x="6596670" y="1882256"/>
                  <a:ext cx="1152000" cy="1152000"/>
                  <a:chOff x="6539685" y="1882256"/>
                  <a:chExt cx="1152000" cy="1152000"/>
                </a:xfrm>
              </p:grpSpPr>
              <p:pic>
                <p:nvPicPr>
                  <p:cNvPr id="40" name="Picture 39">
                    <a:extLst>
                      <a:ext uri="{FF2B5EF4-FFF2-40B4-BE49-F238E27FC236}">
                        <a16:creationId xmlns:a16="http://schemas.microsoft.com/office/drawing/2014/main" id="{93FD23F5-0D2A-4A6E-8AED-B80C4D7B20A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6539685" y="1882256"/>
                    <a:ext cx="1152000" cy="1152000"/>
                  </a:xfrm>
                  <a:prstGeom prst="rect">
                    <a:avLst/>
                  </a:prstGeom>
                </p:spPr>
              </p:pic>
              <p:sp>
                <p:nvSpPr>
                  <p:cNvPr id="86" name="Rectangle 47">
                    <a:extLst>
                      <a:ext uri="{FF2B5EF4-FFF2-40B4-BE49-F238E27FC236}">
                        <a16:creationId xmlns:a16="http://schemas.microsoft.com/office/drawing/2014/main" id="{DF1D13C0-90CE-4A4B-823F-B4340EF83F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539685" y="1882256"/>
                    <a:ext cx="187200" cy="187200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solidFill>
                      <a:schemeClr val="bg1"/>
                    </a:solidFill>
                  </a:ln>
                </p:spPr>
                <p:txBody>
                  <a:bodyPr vert="horz" wrap="none" lIns="0" tIns="0" rIns="0" bIns="0" numCol="1" anchor="ctr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en-US" sz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rPr>
                      <a:t>8</a:t>
                    </a:r>
                    <a:endParaRPr kumimoji="0" lang="en-US" altLang="en-US" sz="120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</a:endParaRPr>
                  </a:p>
                </p:txBody>
              </p:sp>
            </p:grpSp>
          </p:grpSp>
          <p:grpSp>
            <p:nvGrpSpPr>
              <p:cNvPr id="203" name="Group 202">
                <a:extLst>
                  <a:ext uri="{FF2B5EF4-FFF2-40B4-BE49-F238E27FC236}">
                    <a16:creationId xmlns:a16="http://schemas.microsoft.com/office/drawing/2014/main" id="{5021EFAE-8013-4DEC-88EB-707C702C51FF}"/>
                  </a:ext>
                </a:extLst>
              </p:cNvPr>
              <p:cNvGrpSpPr/>
              <p:nvPr/>
            </p:nvGrpSpPr>
            <p:grpSpPr>
              <a:xfrm>
                <a:off x="5027750" y="1815393"/>
                <a:ext cx="1152000" cy="1637963"/>
                <a:chOff x="5167294" y="1396293"/>
                <a:chExt cx="1152000" cy="1637963"/>
              </a:xfrm>
            </p:grpSpPr>
            <p:sp>
              <p:nvSpPr>
                <p:cNvPr id="11" name="63 CuadroTexto"/>
                <p:cNvSpPr txBox="1"/>
                <p:nvPr/>
              </p:nvSpPr>
              <p:spPr>
                <a:xfrm>
                  <a:off x="5203294" y="1396293"/>
                  <a:ext cx="1080000" cy="360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67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-0.2kOe</a:t>
                  </a:r>
                </a:p>
              </p:txBody>
            </p:sp>
            <p:grpSp>
              <p:nvGrpSpPr>
                <p:cNvPr id="82" name="Group 81">
                  <a:extLst>
                    <a:ext uri="{FF2B5EF4-FFF2-40B4-BE49-F238E27FC236}">
                      <a16:creationId xmlns:a16="http://schemas.microsoft.com/office/drawing/2014/main" id="{8289D3E4-3AC5-488D-8ECC-6770B16912CB}"/>
                    </a:ext>
                  </a:extLst>
                </p:cNvPr>
                <p:cNvGrpSpPr/>
                <p:nvPr/>
              </p:nvGrpSpPr>
              <p:grpSpPr>
                <a:xfrm>
                  <a:off x="5167294" y="1882256"/>
                  <a:ext cx="1152000" cy="1152000"/>
                  <a:chOff x="5109920" y="1882256"/>
                  <a:chExt cx="1152000" cy="1152000"/>
                </a:xfrm>
              </p:grpSpPr>
              <p:pic>
                <p:nvPicPr>
                  <p:cNvPr id="39" name="Picture 38">
                    <a:extLst>
                      <a:ext uri="{FF2B5EF4-FFF2-40B4-BE49-F238E27FC236}">
                        <a16:creationId xmlns:a16="http://schemas.microsoft.com/office/drawing/2014/main" id="{EC69F783-AB77-427B-B0DD-648F03D02D6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5109920" y="1882256"/>
                    <a:ext cx="1152000" cy="1152000"/>
                  </a:xfrm>
                  <a:prstGeom prst="rect">
                    <a:avLst/>
                  </a:prstGeom>
                </p:spPr>
              </p:pic>
              <p:sp>
                <p:nvSpPr>
                  <p:cNvPr id="116" name="Rectangle 47">
                    <a:extLst>
                      <a:ext uri="{FF2B5EF4-FFF2-40B4-BE49-F238E27FC236}">
                        <a16:creationId xmlns:a16="http://schemas.microsoft.com/office/drawing/2014/main" id="{4F5CAA97-DBAC-42FD-8F54-25D7D471E8D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09920" y="1882256"/>
                    <a:ext cx="187200" cy="187200"/>
                  </a:xfrm>
                  <a:prstGeom prst="rect">
                    <a:avLst/>
                  </a:prstGeom>
                  <a:solidFill>
                    <a:srgbClr val="00B0F0"/>
                  </a:solidFill>
                  <a:ln>
                    <a:solidFill>
                      <a:schemeClr val="bg1"/>
                    </a:solidFill>
                  </a:ln>
                </p:spPr>
                <p:txBody>
                  <a:bodyPr vert="horz" wrap="none" lIns="0" tIns="0" rIns="0" bIns="0" numCol="1" anchor="ctr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en-US" sz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rPr>
                      <a:t>7</a:t>
                    </a:r>
                    <a:endParaRPr kumimoji="0" lang="en-US" altLang="en-US" sz="120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</a:endParaRPr>
                  </a:p>
                </p:txBody>
              </p:sp>
            </p:grpSp>
          </p:grpSp>
          <p:grpSp>
            <p:nvGrpSpPr>
              <p:cNvPr id="202" name="Group 201">
                <a:extLst>
                  <a:ext uri="{FF2B5EF4-FFF2-40B4-BE49-F238E27FC236}">
                    <a16:creationId xmlns:a16="http://schemas.microsoft.com/office/drawing/2014/main" id="{EA74F758-DB2C-4C77-888C-F8C6C4E98762}"/>
                  </a:ext>
                </a:extLst>
              </p:cNvPr>
              <p:cNvGrpSpPr/>
              <p:nvPr/>
            </p:nvGrpSpPr>
            <p:grpSpPr>
              <a:xfrm>
                <a:off x="3559785" y="1815393"/>
                <a:ext cx="1152000" cy="1636034"/>
                <a:chOff x="3755657" y="1396293"/>
                <a:chExt cx="1152000" cy="1636034"/>
              </a:xfrm>
            </p:grpSpPr>
            <p:sp>
              <p:nvSpPr>
                <p:cNvPr id="10" name="62 CuadroTexto"/>
                <p:cNvSpPr txBox="1"/>
                <p:nvPr/>
              </p:nvSpPr>
              <p:spPr>
                <a:xfrm>
                  <a:off x="3791657" y="1396293"/>
                  <a:ext cx="1080000" cy="360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67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0 </a:t>
                  </a:r>
                  <a:r>
                    <a:rPr lang="en-US" sz="1867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Oe</a:t>
                  </a:r>
                  <a:endParaRPr lang="en-US" sz="1867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grpSp>
              <p:nvGrpSpPr>
                <p:cNvPr id="81" name="Group 80">
                  <a:extLst>
                    <a:ext uri="{FF2B5EF4-FFF2-40B4-BE49-F238E27FC236}">
                      <a16:creationId xmlns:a16="http://schemas.microsoft.com/office/drawing/2014/main" id="{1C5DE2EC-40DC-4AAB-B1CE-B90BA1BD5093}"/>
                    </a:ext>
                  </a:extLst>
                </p:cNvPr>
                <p:cNvGrpSpPr/>
                <p:nvPr/>
              </p:nvGrpSpPr>
              <p:grpSpPr>
                <a:xfrm>
                  <a:off x="3755657" y="1880327"/>
                  <a:ext cx="1152000" cy="1152000"/>
                  <a:chOff x="3680155" y="1880327"/>
                  <a:chExt cx="1152000" cy="1152000"/>
                </a:xfrm>
              </p:grpSpPr>
              <p:pic>
                <p:nvPicPr>
                  <p:cNvPr id="38" name="Picture 37">
                    <a:extLst>
                      <a:ext uri="{FF2B5EF4-FFF2-40B4-BE49-F238E27FC236}">
                        <a16:creationId xmlns:a16="http://schemas.microsoft.com/office/drawing/2014/main" id="{132DEBE2-E4B9-4C67-8D20-5DEA8C65E6F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3680155" y="1880327"/>
                    <a:ext cx="1152000" cy="1152000"/>
                  </a:xfrm>
                  <a:prstGeom prst="rect">
                    <a:avLst/>
                  </a:prstGeom>
                </p:spPr>
              </p:pic>
              <p:sp>
                <p:nvSpPr>
                  <p:cNvPr id="84" name="Rectangle 47">
                    <a:extLst>
                      <a:ext uri="{FF2B5EF4-FFF2-40B4-BE49-F238E27FC236}">
                        <a16:creationId xmlns:a16="http://schemas.microsoft.com/office/drawing/2014/main" id="{DF1D13C0-90CE-4A4B-823F-B4340EF83F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80735" y="1880327"/>
                    <a:ext cx="187200" cy="1872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solidFill>
                      <a:schemeClr val="bg1"/>
                    </a:solidFill>
                  </a:ln>
                </p:spPr>
                <p:txBody>
                  <a:bodyPr vert="horz" wrap="square" lIns="0" tIns="0" rIns="0" bIns="0" numCol="1" anchor="ctr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en-US" sz="120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rPr>
                      <a:t>6</a:t>
                    </a:r>
                    <a:endParaRPr kumimoji="0" lang="en-US" altLang="en-US" sz="120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</a:endParaRPr>
                  </a:p>
                </p:txBody>
              </p:sp>
            </p:grpSp>
          </p:grpSp>
          <p:grpSp>
            <p:nvGrpSpPr>
              <p:cNvPr id="200" name="Group 199">
                <a:extLst>
                  <a:ext uri="{FF2B5EF4-FFF2-40B4-BE49-F238E27FC236}">
                    <a16:creationId xmlns:a16="http://schemas.microsoft.com/office/drawing/2014/main" id="{384EE0A7-43D4-449D-B7B5-8E1D5E99DE55}"/>
                  </a:ext>
                </a:extLst>
              </p:cNvPr>
              <p:cNvGrpSpPr/>
              <p:nvPr/>
            </p:nvGrpSpPr>
            <p:grpSpPr>
              <a:xfrm>
                <a:off x="617867" y="1815393"/>
                <a:ext cx="1157973" cy="1636034"/>
                <a:chOff x="617867" y="1396293"/>
                <a:chExt cx="1157973" cy="1636034"/>
              </a:xfrm>
            </p:grpSpPr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482011AC-35DF-4352-9F96-0CFC20441E7A}"/>
                    </a:ext>
                  </a:extLst>
                </p:cNvPr>
                <p:cNvGrpSpPr/>
                <p:nvPr/>
              </p:nvGrpSpPr>
              <p:grpSpPr>
                <a:xfrm>
                  <a:off x="617867" y="1880327"/>
                  <a:ext cx="1157973" cy="1152000"/>
                  <a:chOff x="633703" y="1880327"/>
                  <a:chExt cx="1157973" cy="1152000"/>
                </a:xfrm>
              </p:grpSpPr>
              <p:pic>
                <p:nvPicPr>
                  <p:cNvPr id="125" name="Picture 124">
                    <a:extLst>
                      <a:ext uri="{FF2B5EF4-FFF2-40B4-BE49-F238E27FC236}">
                        <a16:creationId xmlns:a16="http://schemas.microsoft.com/office/drawing/2014/main" id="{0EA17E3D-E9A7-4540-9102-A4BAE0BC60B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639676" y="1880327"/>
                    <a:ext cx="1152000" cy="1152000"/>
                  </a:xfrm>
                  <a:prstGeom prst="rect">
                    <a:avLst/>
                  </a:prstGeom>
                </p:spPr>
              </p:pic>
              <p:sp>
                <p:nvSpPr>
                  <p:cNvPr id="126" name="Rectangle 47">
                    <a:extLst>
                      <a:ext uri="{FF2B5EF4-FFF2-40B4-BE49-F238E27FC236}">
                        <a16:creationId xmlns:a16="http://schemas.microsoft.com/office/drawing/2014/main" id="{4804E523-9B45-4D6C-9706-4CD67863DD6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3703" y="1880327"/>
                    <a:ext cx="187200" cy="187200"/>
                  </a:xfrm>
                  <a:prstGeom prst="rect">
                    <a:avLst/>
                  </a:prstGeom>
                  <a:solidFill>
                    <a:srgbClr val="7030A0"/>
                  </a:solidFill>
                  <a:ln>
                    <a:solidFill>
                      <a:schemeClr val="bg1"/>
                    </a:solidFill>
                  </a:ln>
                </p:spPr>
                <p:txBody>
                  <a:bodyPr vert="horz" wrap="none" lIns="0" tIns="0" rIns="0" bIns="0" numCol="1" anchor="ctr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en-US" sz="120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rPr>
                      <a:t>3</a:t>
                    </a:r>
                    <a:endParaRPr kumimoji="0" lang="en-US" altLang="en-US" sz="120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</a:endParaRPr>
                  </a:p>
                </p:txBody>
              </p:sp>
            </p:grpSp>
            <p:sp>
              <p:nvSpPr>
                <p:cNvPr id="127" name="110 CuadroTexto">
                  <a:extLst>
                    <a:ext uri="{FF2B5EF4-FFF2-40B4-BE49-F238E27FC236}">
                      <a16:creationId xmlns:a16="http://schemas.microsoft.com/office/drawing/2014/main" id="{BAB0FB69-6732-45A5-8D93-CE55FA060988}"/>
                    </a:ext>
                  </a:extLst>
                </p:cNvPr>
                <p:cNvSpPr txBox="1"/>
                <p:nvPr/>
              </p:nvSpPr>
              <p:spPr>
                <a:xfrm>
                  <a:off x="656853" y="1396293"/>
                  <a:ext cx="1080000" cy="3600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 </a:t>
                  </a:r>
                  <a:r>
                    <a:rPr lang="en-US" sz="1867" dirty="0">
                      <a:solidFill>
                        <a:sysClr val="windowText" lastClr="000000"/>
                      </a:solidFill>
                    </a:rPr>
                    <a:t>2.0kOe</a:t>
                  </a:r>
                </a:p>
              </p:txBody>
            </p:sp>
          </p:grpSp>
          <p:grpSp>
            <p:nvGrpSpPr>
              <p:cNvPr id="201" name="Group 200">
                <a:extLst>
                  <a:ext uri="{FF2B5EF4-FFF2-40B4-BE49-F238E27FC236}">
                    <a16:creationId xmlns:a16="http://schemas.microsoft.com/office/drawing/2014/main" id="{6626E6E6-4422-4468-89A8-59D757C5F688}"/>
                  </a:ext>
                </a:extLst>
              </p:cNvPr>
              <p:cNvGrpSpPr/>
              <p:nvPr/>
            </p:nvGrpSpPr>
            <p:grpSpPr>
              <a:xfrm>
                <a:off x="2091805" y="1815393"/>
                <a:ext cx="1152015" cy="1636034"/>
                <a:chOff x="2274746" y="1396293"/>
                <a:chExt cx="1152015" cy="1636034"/>
              </a:xfrm>
            </p:grpSpPr>
            <p:sp>
              <p:nvSpPr>
                <p:cNvPr id="18" name="42 CuadroTexto"/>
                <p:cNvSpPr txBox="1"/>
                <p:nvPr/>
              </p:nvSpPr>
              <p:spPr>
                <a:xfrm>
                  <a:off x="2310753" y="1396293"/>
                  <a:ext cx="1080000" cy="360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67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0.2 </a:t>
                  </a:r>
                  <a:r>
                    <a:rPr lang="en-US" sz="1867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kOe</a:t>
                  </a:r>
                  <a:endParaRPr lang="en-US" sz="1867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B73E7D50-AEB7-4FFB-B638-AE4B7880BE16}"/>
                    </a:ext>
                  </a:extLst>
                </p:cNvPr>
                <p:cNvGrpSpPr/>
                <p:nvPr/>
              </p:nvGrpSpPr>
              <p:grpSpPr>
                <a:xfrm>
                  <a:off x="2274746" y="1880327"/>
                  <a:ext cx="1152015" cy="1152000"/>
                  <a:chOff x="2250375" y="1880327"/>
                  <a:chExt cx="1152015" cy="1152000"/>
                </a:xfrm>
              </p:grpSpPr>
              <p:pic>
                <p:nvPicPr>
                  <p:cNvPr id="37" name="Picture 36">
                    <a:extLst>
                      <a:ext uri="{FF2B5EF4-FFF2-40B4-BE49-F238E27FC236}">
                        <a16:creationId xmlns:a16="http://schemas.microsoft.com/office/drawing/2014/main" id="{C261E71D-E055-46B5-A3E9-C6D0CFC75F1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2250390" y="1880327"/>
                    <a:ext cx="1152000" cy="1152000"/>
                  </a:xfrm>
                  <a:prstGeom prst="rect">
                    <a:avLst/>
                  </a:prstGeom>
                </p:spPr>
              </p:pic>
              <p:sp>
                <p:nvSpPr>
                  <p:cNvPr id="163" name="Rectangle 47">
                    <a:extLst>
                      <a:ext uri="{FF2B5EF4-FFF2-40B4-BE49-F238E27FC236}">
                        <a16:creationId xmlns:a16="http://schemas.microsoft.com/office/drawing/2014/main" id="{495D0A99-9E59-4B43-9C44-D96B431E4E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50375" y="1880327"/>
                    <a:ext cx="187200" cy="187200"/>
                  </a:xfrm>
                  <a:prstGeom prst="rect">
                    <a:avLst/>
                  </a:prstGeom>
                  <a:solidFill>
                    <a:srgbClr val="002060"/>
                  </a:solidFill>
                  <a:ln>
                    <a:solidFill>
                      <a:schemeClr val="bg1"/>
                    </a:solidFill>
                  </a:ln>
                </p:spPr>
                <p:txBody>
                  <a:bodyPr vert="horz" wrap="square" lIns="0" tIns="0" rIns="0" bIns="0" numCol="1" anchor="ctr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en-US" sz="120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rPr>
                      <a:t>5</a:t>
                    </a:r>
                    <a:endParaRPr kumimoji="0" lang="en-US" altLang="en-US" sz="120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</a:endParaRPr>
                  </a:p>
                </p:txBody>
              </p:sp>
            </p:grpSp>
          </p:grpSp>
        </p:grp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46A78723-0ED5-48B3-9E14-0C906EFD9423}"/>
              </a:ext>
            </a:extLst>
          </p:cNvPr>
          <p:cNvGrpSpPr/>
          <p:nvPr/>
        </p:nvGrpSpPr>
        <p:grpSpPr>
          <a:xfrm>
            <a:off x="-6854944" y="2458286"/>
            <a:ext cx="2834781" cy="3322006"/>
            <a:chOff x="5031827" y="2388504"/>
            <a:chExt cx="2834781" cy="3322006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78FF4A11-721A-4651-952D-F16A95975772}"/>
                </a:ext>
              </a:extLst>
            </p:cNvPr>
            <p:cNvGrpSpPr/>
            <p:nvPr/>
          </p:nvGrpSpPr>
          <p:grpSpPr>
            <a:xfrm>
              <a:off x="5031827" y="2388504"/>
              <a:ext cx="2834781" cy="3322006"/>
              <a:chOff x="5031827" y="2388504"/>
              <a:chExt cx="2834781" cy="3322006"/>
            </a:xfrm>
          </p:grpSpPr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56912A26-9C79-4153-B0D9-BAC164097835}"/>
                  </a:ext>
                </a:extLst>
              </p:cNvPr>
              <p:cNvSpPr/>
              <p:nvPr/>
            </p:nvSpPr>
            <p:spPr>
              <a:xfrm>
                <a:off x="7330817" y="4019451"/>
                <a:ext cx="535791" cy="6312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dirty="0"/>
                  <a:t>H</a:t>
                </a:r>
                <a:r>
                  <a:rPr lang="en-GB" baseline="-25000" dirty="0"/>
                  <a:t>z</a:t>
                </a:r>
                <a:endParaRPr lang="en-GB" dirty="0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F8FD9025-6863-4C37-8094-D22C499ED642}"/>
                  </a:ext>
                </a:extLst>
              </p:cNvPr>
              <p:cNvSpPr/>
              <p:nvPr/>
            </p:nvSpPr>
            <p:spPr>
              <a:xfrm>
                <a:off x="5922551" y="2388504"/>
                <a:ext cx="806772" cy="11047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dirty="0"/>
                  <a:t>µ</a:t>
                </a:r>
                <a:r>
                  <a:rPr lang="en-GB" baseline="-25000" dirty="0"/>
                  <a:t>0</a:t>
                </a:r>
                <a:r>
                  <a:rPr lang="en-GB" dirty="0"/>
                  <a:t>M</a:t>
                </a:r>
              </a:p>
              <a:p>
                <a:endParaRPr lang="en-GB" dirty="0"/>
              </a:p>
            </p:txBody>
          </p:sp>
          <p:cxnSp>
            <p:nvCxnSpPr>
              <p:cNvPr id="167" name="Straight Arrow Connector 166">
                <a:extLst>
                  <a:ext uri="{FF2B5EF4-FFF2-40B4-BE49-F238E27FC236}">
                    <a16:creationId xmlns:a16="http://schemas.microsoft.com/office/drawing/2014/main" id="{E9A3B5C7-8A03-45B1-AAB9-3983CE8196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29629" y="4177854"/>
                <a:ext cx="218614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Straight Arrow Connector 167">
                <a:extLst>
                  <a:ext uri="{FF2B5EF4-FFF2-40B4-BE49-F238E27FC236}">
                    <a16:creationId xmlns:a16="http://schemas.microsoft.com/office/drawing/2014/main" id="{A2A17E39-3DB2-4F65-87E2-E2F347F317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22704" y="2728899"/>
                <a:ext cx="0" cy="28979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69" name="Graphic 6">
                <a:extLst>
                  <a:ext uri="{FF2B5EF4-FFF2-40B4-BE49-F238E27FC236}">
                    <a16:creationId xmlns:a16="http://schemas.microsoft.com/office/drawing/2014/main" id="{284C9254-CBC9-4F4B-B98E-2526A45D10FE}"/>
                  </a:ext>
                </a:extLst>
              </p:cNvPr>
              <p:cNvGrpSpPr/>
              <p:nvPr/>
            </p:nvGrpSpPr>
            <p:grpSpPr>
              <a:xfrm>
                <a:off x="5129979" y="2735598"/>
                <a:ext cx="2188798" cy="2890472"/>
                <a:chOff x="-2357977" y="4405267"/>
                <a:chExt cx="1592603" cy="1691099"/>
              </a:xfrm>
              <a:noFill/>
            </p:grpSpPr>
            <p:sp>
              <p:nvSpPr>
                <p:cNvPr id="193" name="Freeform: Shape 192">
                  <a:extLst>
                    <a:ext uri="{FF2B5EF4-FFF2-40B4-BE49-F238E27FC236}">
                      <a16:creationId xmlns:a16="http://schemas.microsoft.com/office/drawing/2014/main" id="{30195319-04A1-4510-A331-D5E636B84A1A}"/>
                    </a:ext>
                  </a:extLst>
                </p:cNvPr>
                <p:cNvSpPr/>
                <p:nvPr/>
              </p:nvSpPr>
              <p:spPr>
                <a:xfrm>
                  <a:off x="-1631882" y="4441434"/>
                  <a:ext cx="726095" cy="827466"/>
                </a:xfrm>
                <a:custGeom>
                  <a:avLst/>
                  <a:gdLst>
                    <a:gd name="connsiteX0" fmla="*/ 726126 w 726095"/>
                    <a:gd name="connsiteY0" fmla="*/ -63 h 827466"/>
                    <a:gd name="connsiteX1" fmla="*/ 31 w 726095"/>
                    <a:gd name="connsiteY1" fmla="*/ 827403 h 827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26095" h="827466">
                      <a:moveTo>
                        <a:pt x="726126" y="-63"/>
                      </a:moveTo>
                      <a:cubicBezTo>
                        <a:pt x="726126" y="-63"/>
                        <a:pt x="95957" y="82597"/>
                        <a:pt x="31" y="827403"/>
                      </a:cubicBezTo>
                    </a:path>
                  </a:pathLst>
                </a:custGeom>
                <a:noFill/>
                <a:ln w="6706" cap="flat">
                  <a:solidFill>
                    <a:schemeClr val="bg2">
                      <a:lumMod val="50000"/>
                    </a:schemeClr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dirty="0">
                    <a:ln>
                      <a:solidFill>
                        <a:srgbClr val="0070C0"/>
                      </a:solidFill>
                    </a:ln>
                  </a:endParaRPr>
                </a:p>
              </p:txBody>
            </p:sp>
            <p:sp>
              <p:nvSpPr>
                <p:cNvPr id="194" name="Freeform: Shape 193">
                  <a:extLst>
                    <a:ext uri="{FF2B5EF4-FFF2-40B4-BE49-F238E27FC236}">
                      <a16:creationId xmlns:a16="http://schemas.microsoft.com/office/drawing/2014/main" id="{803583A0-A353-4976-AB2F-C8F0C554BF92}"/>
                    </a:ext>
                  </a:extLst>
                </p:cNvPr>
                <p:cNvSpPr/>
                <p:nvPr/>
              </p:nvSpPr>
              <p:spPr>
                <a:xfrm>
                  <a:off x="-2357977" y="5268900"/>
                  <a:ext cx="726095" cy="827466"/>
                </a:xfrm>
                <a:custGeom>
                  <a:avLst/>
                  <a:gdLst>
                    <a:gd name="connsiteX0" fmla="*/ -16 w 726095"/>
                    <a:gd name="connsiteY0" fmla="*/ 827467 h 827466"/>
                    <a:gd name="connsiteX1" fmla="*/ 726079 w 726095"/>
                    <a:gd name="connsiteY1" fmla="*/ 1 h 827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26095" h="827466">
                      <a:moveTo>
                        <a:pt x="-16" y="827467"/>
                      </a:moveTo>
                      <a:cubicBezTo>
                        <a:pt x="-16" y="827467"/>
                        <a:pt x="630152" y="744807"/>
                        <a:pt x="726079" y="1"/>
                      </a:cubicBezTo>
                    </a:path>
                  </a:pathLst>
                </a:custGeom>
                <a:noFill/>
                <a:ln w="6706" cap="flat">
                  <a:solidFill>
                    <a:schemeClr val="bg2">
                      <a:lumMod val="50000"/>
                    </a:schemeClr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dirty="0"/>
                </a:p>
              </p:txBody>
            </p:sp>
            <p:sp>
              <p:nvSpPr>
                <p:cNvPr id="195" name="Freeform: Shape 194">
                  <a:extLst>
                    <a:ext uri="{FF2B5EF4-FFF2-40B4-BE49-F238E27FC236}">
                      <a16:creationId xmlns:a16="http://schemas.microsoft.com/office/drawing/2014/main" id="{4FFF7EDA-7B7C-436A-957D-415B72B1E9D9}"/>
                    </a:ext>
                  </a:extLst>
                </p:cNvPr>
                <p:cNvSpPr/>
                <p:nvPr/>
              </p:nvSpPr>
              <p:spPr>
                <a:xfrm>
                  <a:off x="-1491469" y="4405267"/>
                  <a:ext cx="726095" cy="827466"/>
                </a:xfrm>
                <a:custGeom>
                  <a:avLst/>
                  <a:gdLst>
                    <a:gd name="connsiteX0" fmla="*/ 726136 w 726095"/>
                    <a:gd name="connsiteY0" fmla="*/ -66 h 827466"/>
                    <a:gd name="connsiteX1" fmla="*/ 40 w 726095"/>
                    <a:gd name="connsiteY1" fmla="*/ 827400 h 827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26095" h="827466">
                      <a:moveTo>
                        <a:pt x="726136" y="-66"/>
                      </a:moveTo>
                      <a:cubicBezTo>
                        <a:pt x="726136" y="-66"/>
                        <a:pt x="95967" y="82594"/>
                        <a:pt x="40" y="827400"/>
                      </a:cubicBezTo>
                    </a:path>
                  </a:pathLst>
                </a:custGeom>
                <a:noFill/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96" name="Freeform: Shape 195">
                  <a:extLst>
                    <a:ext uri="{FF2B5EF4-FFF2-40B4-BE49-F238E27FC236}">
                      <a16:creationId xmlns:a16="http://schemas.microsoft.com/office/drawing/2014/main" id="{2B4A7C72-F898-4687-83AB-8FE4FF8489D3}"/>
                    </a:ext>
                  </a:extLst>
                </p:cNvPr>
                <p:cNvSpPr/>
                <p:nvPr/>
              </p:nvSpPr>
              <p:spPr>
                <a:xfrm>
                  <a:off x="-2217564" y="5232733"/>
                  <a:ext cx="726095" cy="827466"/>
                </a:xfrm>
                <a:custGeom>
                  <a:avLst/>
                  <a:gdLst>
                    <a:gd name="connsiteX0" fmla="*/ -7 w 726095"/>
                    <a:gd name="connsiteY0" fmla="*/ 827464 h 827466"/>
                    <a:gd name="connsiteX1" fmla="*/ 726088 w 726095"/>
                    <a:gd name="connsiteY1" fmla="*/ -2 h 827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26095" h="827466">
                      <a:moveTo>
                        <a:pt x="-7" y="827464"/>
                      </a:moveTo>
                      <a:cubicBezTo>
                        <a:pt x="-7" y="827464"/>
                        <a:pt x="630162" y="744804"/>
                        <a:pt x="726088" y="-2"/>
                      </a:cubicBezTo>
                    </a:path>
                  </a:pathLst>
                </a:custGeom>
                <a:noFill/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5BE10ECA-3CBC-40AB-8B6D-D2501C5B595A}"/>
                  </a:ext>
                </a:extLst>
              </p:cNvPr>
              <p:cNvSpPr/>
              <p:nvPr/>
            </p:nvSpPr>
            <p:spPr>
              <a:xfrm>
                <a:off x="7191531" y="2684413"/>
                <a:ext cx="138542" cy="13854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C65EE62E-5FB4-4E94-9127-0D10035D4DB7}"/>
                  </a:ext>
                </a:extLst>
              </p:cNvPr>
              <p:cNvSpPr/>
              <p:nvPr/>
            </p:nvSpPr>
            <p:spPr>
              <a:xfrm>
                <a:off x="6290063" y="3387175"/>
                <a:ext cx="138542" cy="138542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A09D71DB-A885-4CF8-B304-7C8726DE34B6}"/>
                  </a:ext>
                </a:extLst>
              </p:cNvPr>
              <p:cNvSpPr/>
              <p:nvPr/>
            </p:nvSpPr>
            <p:spPr>
              <a:xfrm>
                <a:off x="6152756" y="3660092"/>
                <a:ext cx="138542" cy="138542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E0AA1A84-FFF7-449C-B179-25B7B34F7DF9}"/>
                  </a:ext>
                </a:extLst>
              </p:cNvPr>
              <p:cNvSpPr/>
              <p:nvPr/>
            </p:nvSpPr>
            <p:spPr>
              <a:xfrm>
                <a:off x="6078712" y="3968625"/>
                <a:ext cx="138542" cy="138542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355F86E6-E8AB-4F15-A24C-ED867A6D3FF5}"/>
                  </a:ext>
                </a:extLst>
              </p:cNvPr>
              <p:cNvSpPr/>
              <p:nvPr/>
            </p:nvSpPr>
            <p:spPr>
              <a:xfrm>
                <a:off x="6054338" y="4303039"/>
                <a:ext cx="138542" cy="138542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C188CD50-4131-4C87-89D4-B4D0E42FF624}"/>
                  </a:ext>
                </a:extLst>
              </p:cNvPr>
              <p:cNvSpPr/>
              <p:nvPr/>
            </p:nvSpPr>
            <p:spPr>
              <a:xfrm>
                <a:off x="5971229" y="4578321"/>
                <a:ext cx="138542" cy="138542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80882901-842A-4074-9C5F-063BE816AED0}"/>
                  </a:ext>
                </a:extLst>
              </p:cNvPr>
              <p:cNvSpPr/>
              <p:nvPr/>
            </p:nvSpPr>
            <p:spPr>
              <a:xfrm>
                <a:off x="5897151" y="4811248"/>
                <a:ext cx="138542" cy="138542"/>
              </a:xfrm>
              <a:prstGeom prst="ellipse">
                <a:avLst/>
              </a:prstGeom>
              <a:solidFill>
                <a:srgbClr val="99FF99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16D07ADD-C0BA-4288-8B2D-B77BC8CCCC2B}"/>
                  </a:ext>
                </a:extLst>
              </p:cNvPr>
              <p:cNvSpPr/>
              <p:nvPr/>
            </p:nvSpPr>
            <p:spPr>
              <a:xfrm>
                <a:off x="5031827" y="5571968"/>
                <a:ext cx="138542" cy="138542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A4AC1C3B-0E27-45D6-BB59-8979F496B003}"/>
                  </a:ext>
                </a:extLst>
              </p:cNvPr>
              <p:cNvSpPr/>
              <p:nvPr/>
            </p:nvSpPr>
            <p:spPr>
              <a:xfrm flipH="1">
                <a:off x="6062251" y="4823948"/>
                <a:ext cx="138542" cy="138542"/>
              </a:xfrm>
              <a:prstGeom prst="ellipse">
                <a:avLst/>
              </a:prstGeom>
              <a:solidFill>
                <a:srgbClr val="FFCC6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154816D3-5AD3-4884-A661-37A69F405076}"/>
                  </a:ext>
                </a:extLst>
              </p:cNvPr>
              <p:cNvSpPr/>
              <p:nvPr/>
            </p:nvSpPr>
            <p:spPr>
              <a:xfrm flipH="1">
                <a:off x="6161612" y="4576072"/>
                <a:ext cx="138542" cy="138542"/>
              </a:xfrm>
              <a:prstGeom prst="ellipse">
                <a:avLst/>
              </a:prstGeom>
              <a:solidFill>
                <a:srgbClr val="CC66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2DF2BAFD-391F-4AA2-A673-6A5F015D7290}"/>
                  </a:ext>
                </a:extLst>
              </p:cNvPr>
              <p:cNvSpPr/>
              <p:nvPr/>
            </p:nvSpPr>
            <p:spPr>
              <a:xfrm flipH="1">
                <a:off x="6247383" y="4229313"/>
                <a:ext cx="138542" cy="138542"/>
              </a:xfrm>
              <a:prstGeom prst="ellipse">
                <a:avLst/>
              </a:prstGeom>
              <a:solidFill>
                <a:srgbClr val="FF66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F9B8E36C-968F-4BFA-B252-1F734A907F27}"/>
                  </a:ext>
                </a:extLst>
              </p:cNvPr>
              <p:cNvSpPr/>
              <p:nvPr/>
            </p:nvSpPr>
            <p:spPr>
              <a:xfrm flipH="1">
                <a:off x="6271757" y="3932999"/>
                <a:ext cx="138542" cy="138542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11AE6542-2B6B-4783-AFD5-84E7B12FF4A5}"/>
                  </a:ext>
                </a:extLst>
              </p:cNvPr>
              <p:cNvSpPr/>
              <p:nvPr/>
            </p:nvSpPr>
            <p:spPr>
              <a:xfrm flipH="1">
                <a:off x="6354866" y="3594217"/>
                <a:ext cx="138542" cy="138542"/>
              </a:xfrm>
              <a:prstGeom prst="ellipse">
                <a:avLst/>
              </a:prstGeom>
              <a:solidFill>
                <a:srgbClr val="FF66CC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248E28A5-0872-435B-ACD9-69C712B7BA89}"/>
                  </a:ext>
                </a:extLst>
              </p:cNvPr>
              <p:cNvSpPr/>
              <p:nvPr/>
            </p:nvSpPr>
            <p:spPr>
              <a:xfrm flipH="1">
                <a:off x="6445066" y="3399390"/>
                <a:ext cx="138542" cy="138542"/>
              </a:xfrm>
              <a:prstGeom prst="ellipse">
                <a:avLst/>
              </a:prstGeom>
              <a:solidFill>
                <a:srgbClr val="CC00CC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32" name="Isosceles Triangle 131">
              <a:extLst>
                <a:ext uri="{FF2B5EF4-FFF2-40B4-BE49-F238E27FC236}">
                  <a16:creationId xmlns:a16="http://schemas.microsoft.com/office/drawing/2014/main" id="{E5BFBEDF-5052-4172-A99F-16C2144DCD49}"/>
                </a:ext>
              </a:extLst>
            </p:cNvPr>
            <p:cNvSpPr/>
            <p:nvPr/>
          </p:nvSpPr>
          <p:spPr>
            <a:xfrm rot="12858070">
              <a:off x="5838902" y="4992927"/>
              <a:ext cx="45719" cy="14395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3" name="Isosceles Triangle 132">
              <a:extLst>
                <a:ext uri="{FF2B5EF4-FFF2-40B4-BE49-F238E27FC236}">
                  <a16:creationId xmlns:a16="http://schemas.microsoft.com/office/drawing/2014/main" id="{FF7C2973-9DE3-4C04-BF1E-9E361FF34E94}"/>
                </a:ext>
              </a:extLst>
            </p:cNvPr>
            <p:cNvSpPr/>
            <p:nvPr/>
          </p:nvSpPr>
          <p:spPr>
            <a:xfrm rot="12858070" flipH="1" flipV="1">
              <a:off x="5996501" y="4986338"/>
              <a:ext cx="45719" cy="14395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5" name="Isosceles Triangle 134">
              <a:extLst>
                <a:ext uri="{FF2B5EF4-FFF2-40B4-BE49-F238E27FC236}">
                  <a16:creationId xmlns:a16="http://schemas.microsoft.com/office/drawing/2014/main" id="{8E17DBFD-9986-4450-8907-B09A74C1E760}"/>
                </a:ext>
              </a:extLst>
            </p:cNvPr>
            <p:cNvSpPr/>
            <p:nvPr/>
          </p:nvSpPr>
          <p:spPr>
            <a:xfrm rot="12858070">
              <a:off x="6401957" y="3239645"/>
              <a:ext cx="45719" cy="14395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8" name="Isosceles Triangle 137">
              <a:extLst>
                <a:ext uri="{FF2B5EF4-FFF2-40B4-BE49-F238E27FC236}">
                  <a16:creationId xmlns:a16="http://schemas.microsoft.com/office/drawing/2014/main" id="{890F334C-BDC9-40FC-9FF8-4F3F430BE7B2}"/>
                </a:ext>
              </a:extLst>
            </p:cNvPr>
            <p:cNvSpPr/>
            <p:nvPr/>
          </p:nvSpPr>
          <p:spPr>
            <a:xfrm rot="12858070" flipH="1" flipV="1">
              <a:off x="6598123" y="3176309"/>
              <a:ext cx="45719" cy="14395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12D1F33-B005-4C09-AB73-CF4EFD0F3484}"/>
              </a:ext>
            </a:extLst>
          </p:cNvPr>
          <p:cNvSpPr txBox="1"/>
          <p:nvPr/>
        </p:nvSpPr>
        <p:spPr>
          <a:xfrm>
            <a:off x="5393416" y="1275411"/>
            <a:ext cx="2707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 =22K; Lift height= 150nm</a:t>
            </a:r>
          </a:p>
        </p:txBody>
      </p:sp>
    </p:spTree>
    <p:extLst>
      <p:ext uri="{BB962C8B-B14F-4D97-AF65-F5344CB8AC3E}">
        <p14:creationId xmlns:p14="http://schemas.microsoft.com/office/powerpoint/2010/main" val="4194814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821A2B6-9CDB-4978-B322-650F6FFD8EB0}"/>
              </a:ext>
            </a:extLst>
          </p:cNvPr>
          <p:cNvCxnSpPr>
            <a:cxnSpLocks/>
          </p:cNvCxnSpPr>
          <p:nvPr/>
        </p:nvCxnSpPr>
        <p:spPr>
          <a:xfrm flipH="1" flipV="1">
            <a:off x="7886700" y="1322389"/>
            <a:ext cx="4762" cy="149145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1C715F96-5751-4CE4-9D10-943E3C88E7DB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4547870" y="1335088"/>
            <a:ext cx="2949575" cy="3942080"/>
          </a:xfrm>
          <a:prstGeom prst="rect">
            <a:avLst/>
          </a:prstGeom>
          <a:noFill/>
          <a:ln w="57150">
            <a:solidFill>
              <a:srgbClr val="FFC000"/>
            </a:solidFill>
            <a:prstDash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4A3911-E7C7-4909-8F11-4017A48D78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598" y="1335088"/>
            <a:ext cx="1905004" cy="3621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E669D8D-879B-48D5-95E7-027372F6F4ED}"/>
              </a:ext>
            </a:extLst>
          </p:cNvPr>
          <p:cNvSpPr/>
          <p:nvPr/>
        </p:nvSpPr>
        <p:spPr>
          <a:xfrm>
            <a:off x="5715000" y="3298030"/>
            <a:ext cx="241300" cy="3913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D8F6ED4-87C8-49B5-BF16-0A4D9686A88A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5956300" y="2943225"/>
            <a:ext cx="1566543" cy="5504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F824794-A7B8-40D6-B586-EC9B2D08436D}"/>
              </a:ext>
            </a:extLst>
          </p:cNvPr>
          <p:cNvSpPr txBox="1"/>
          <p:nvPr/>
        </p:nvSpPr>
        <p:spPr>
          <a:xfrm rot="5400000">
            <a:off x="7178886" y="1937587"/>
            <a:ext cx="17203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latin typeface="Univers Condensed" panose="020B0506020202050204" pitchFamily="34" charset="0"/>
              </a:rPr>
              <a:t>Self-alignment configuration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D128FE6-5C27-4D39-BCD2-54FC20EC17B9}"/>
              </a:ext>
            </a:extLst>
          </p:cNvPr>
          <p:cNvCxnSpPr>
            <a:cxnSpLocks/>
          </p:cNvCxnSpPr>
          <p:nvPr/>
        </p:nvCxnSpPr>
        <p:spPr>
          <a:xfrm flipH="1">
            <a:off x="5961062" y="2813843"/>
            <a:ext cx="1930400" cy="67429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413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57E7FC-6C7E-4AD9-9218-2F3B98AE100D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t="1279" r="7342" b="40022"/>
          <a:stretch/>
        </p:blipFill>
        <p:spPr bwMode="auto">
          <a:xfrm>
            <a:off x="4529230" y="1681515"/>
            <a:ext cx="3546154" cy="2140268"/>
          </a:xfrm>
          <a:prstGeom prst="rect">
            <a:avLst/>
          </a:prstGeom>
          <a:noFill/>
          <a:ln w="28575">
            <a:solidFill>
              <a:srgbClr val="FFC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DA183F-41B6-4C04-914C-CE5DD480C02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50" b="41055"/>
          <a:stretch>
            <a:fillRect/>
          </a:stretch>
        </p:blipFill>
        <p:spPr bwMode="auto">
          <a:xfrm>
            <a:off x="1181510" y="1634843"/>
            <a:ext cx="3347720" cy="2186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82F2CE-222B-4AF4-BD94-1CEAF8BFA91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0" r="7687" b="2177"/>
          <a:stretch>
            <a:fillRect/>
          </a:stretch>
        </p:blipFill>
        <p:spPr bwMode="auto">
          <a:xfrm>
            <a:off x="8309386" y="1681514"/>
            <a:ext cx="2871788" cy="2159321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0DE4AAF-CD66-49D6-A046-5283E154AA05}"/>
              </a:ext>
            </a:extLst>
          </p:cNvPr>
          <p:cNvSpPr/>
          <p:nvPr/>
        </p:nvSpPr>
        <p:spPr>
          <a:xfrm>
            <a:off x="1789523" y="2751649"/>
            <a:ext cx="200025" cy="102346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56919D-CAAA-4768-ACB3-78B7073E32EC}"/>
              </a:ext>
            </a:extLst>
          </p:cNvPr>
          <p:cNvCxnSpPr>
            <a:cxnSpLocks/>
          </p:cNvCxnSpPr>
          <p:nvPr/>
        </p:nvCxnSpPr>
        <p:spPr>
          <a:xfrm flipV="1">
            <a:off x="1989548" y="1660322"/>
            <a:ext cx="2539682" cy="1087042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48D5BB1-939C-4C87-A4FC-20191BA044A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889536" y="3775110"/>
            <a:ext cx="2639694" cy="65725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086483F-66B7-43B3-81DB-203A20233B1B}"/>
              </a:ext>
            </a:extLst>
          </p:cNvPr>
          <p:cNvSpPr/>
          <p:nvPr/>
        </p:nvSpPr>
        <p:spPr>
          <a:xfrm>
            <a:off x="5626037" y="2051085"/>
            <a:ext cx="390525" cy="1704973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accent2"/>
                </a:solidFill>
              </a:ln>
              <a:noFill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A650223-7406-43AC-BE9D-17536646B4BA}"/>
              </a:ext>
            </a:extLst>
          </p:cNvPr>
          <p:cNvCxnSpPr>
            <a:cxnSpLocks/>
          </p:cNvCxnSpPr>
          <p:nvPr/>
        </p:nvCxnSpPr>
        <p:spPr>
          <a:xfrm flipV="1">
            <a:off x="6016562" y="1660322"/>
            <a:ext cx="2292824" cy="39076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D1E24A7-2873-4BE0-B552-EFB2AF735967}"/>
              </a:ext>
            </a:extLst>
          </p:cNvPr>
          <p:cNvCxnSpPr>
            <a:cxnSpLocks/>
          </p:cNvCxnSpPr>
          <p:nvPr/>
        </p:nvCxnSpPr>
        <p:spPr>
          <a:xfrm>
            <a:off x="6016562" y="3756058"/>
            <a:ext cx="2292824" cy="84777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Box 14">
            <a:extLst>
              <a:ext uri="{FF2B5EF4-FFF2-40B4-BE49-F238E27FC236}">
                <a16:creationId xmlns:a16="http://schemas.microsoft.com/office/drawing/2014/main" id="{C5352F51-D237-4EA8-97EA-1E1CC3B85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0169" y="3910371"/>
            <a:ext cx="315022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dirty="0">
                <a:latin typeface="+mn-lt"/>
              </a:rPr>
              <a:t>T=4.2 K, f</a:t>
            </a:r>
            <a:r>
              <a:rPr lang="en-US" altLang="en-US" baseline="-25000" dirty="0">
                <a:latin typeface="+mn-lt"/>
              </a:rPr>
              <a:t>0</a:t>
            </a:r>
            <a:r>
              <a:rPr lang="en-US" altLang="en-US" dirty="0">
                <a:latin typeface="+mn-lt"/>
              </a:rPr>
              <a:t>=4312.60 Hz, Q=9003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2A2EC1-46A7-4B97-9E57-4A25C7F5835B}"/>
              </a:ext>
            </a:extLst>
          </p:cNvPr>
          <p:cNvSpPr txBox="1"/>
          <p:nvPr/>
        </p:nvSpPr>
        <p:spPr>
          <a:xfrm>
            <a:off x="10036277" y="3078713"/>
            <a:ext cx="1167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k = 75N/m</a:t>
            </a:r>
          </a:p>
        </p:txBody>
      </p:sp>
    </p:spTree>
    <p:extLst>
      <p:ext uri="{BB962C8B-B14F-4D97-AF65-F5344CB8AC3E}">
        <p14:creationId xmlns:p14="http://schemas.microsoft.com/office/powerpoint/2010/main" val="1727886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4050</TotalTime>
  <Words>203</Words>
  <Application>Microsoft Office PowerPoint</Application>
  <PresentationFormat>Widescreen</PresentationFormat>
  <Paragraphs>67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Franklin Gothic Heavy</vt:lpstr>
      <vt:lpstr>Times New Roman</vt:lpstr>
      <vt:lpstr>Univers Condensed</vt:lpstr>
      <vt:lpstr>Office Theme</vt:lpstr>
      <vt:lpstr>PowerPoint Presentation</vt:lpstr>
      <vt:lpstr>CrGeTe3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Juanjo Riquelme</dc:creator>
  <cp:lastModifiedBy>Juanjo Riquelme</cp:lastModifiedBy>
  <cp:revision>23</cp:revision>
  <dcterms:created xsi:type="dcterms:W3CDTF">2021-02-24T18:27:34Z</dcterms:created>
  <dcterms:modified xsi:type="dcterms:W3CDTF">2021-02-28T21:28:36Z</dcterms:modified>
</cp:coreProperties>
</file>